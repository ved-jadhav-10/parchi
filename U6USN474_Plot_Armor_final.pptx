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ial Bold" charset="1" panose="020B0704020202020204"/>
      <p:regular r:id="rId18"/>
    </p:embeddedFont>
    <p:embeddedFont>
      <p:font typeface="Calibri (MS)" charset="1" panose="020F0502020204030204"/>
      <p:regular r:id="rId19"/>
    </p:embeddedFont>
    <p:embeddedFont>
      <p:font typeface="Arial" charset="1" panose="020B0604020202020204"/>
      <p:regular r:id="rId20"/>
    </p:embeddedFont>
    <p:embeddedFont>
      <p:font typeface="Calibri (MS) Italics" charset="1" panose="020F05020202040A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notesMaster" Target="notesMasters/notesMaster1.xml"/><Relationship Id="rId16" Type="http://schemas.openxmlformats.org/officeDocument/2006/relationships/theme" Target="theme/theme2.xml"/><Relationship Id="rId17" Type="http://schemas.openxmlformats.org/officeDocument/2006/relationships/notesSlide" Target="notesSlides/notesSlide1.xml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notesSlide" Target="notesSlides/notesSlide2.xml"/><Relationship Id="rId22" Type="http://schemas.openxmlformats.org/officeDocument/2006/relationships/font" Target="fonts/font22.fntdata"/><Relationship Id="rId23" Type="http://schemas.openxmlformats.org/officeDocument/2006/relationships/notesSlide" Target="notesSlides/notesSlide3.xml"/><Relationship Id="rId24" Type="http://schemas.openxmlformats.org/officeDocument/2006/relationships/notesSlide" Target="notesSlides/notesSlide4.xml"/><Relationship Id="rId25" Type="http://schemas.openxmlformats.org/officeDocument/2006/relationships/notesSlide" Target="notesSlides/notesSlide5.xml"/><Relationship Id="rId26" Type="http://schemas.openxmlformats.org/officeDocument/2006/relationships/notesSlide" Target="notesSlides/notesSlide6.xml"/><Relationship Id="rId27" Type="http://schemas.openxmlformats.org/officeDocument/2006/relationships/notesSlide" Target="notesSlides/notesSlide7.xml"/><Relationship Id="rId28" Type="http://schemas.openxmlformats.org/officeDocument/2006/relationships/notesSlide" Target="notesSlides/notesSlide8.xml"/><Relationship Id="rId29" Type="http://schemas.openxmlformats.org/officeDocument/2006/relationships/notesSlide" Target="notesSlides/notes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jpe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2960" y="548640"/>
            <a:ext cx="9601200" cy="480060"/>
            <a:chOff x="0" y="0"/>
            <a:chExt cx="12801600" cy="6400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01600" cy="640080"/>
            </a:xfrm>
            <a:custGeom>
              <a:avLst/>
              <a:gdLst/>
              <a:ahLst/>
              <a:cxnLst/>
              <a:rect r="r" b="b" t="t" l="l"/>
              <a:pathLst>
                <a:path h="64008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28016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59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MANIPAL UNIVERSITY JAIPUR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22960" y="1028700"/>
            <a:ext cx="10972800" cy="411480"/>
            <a:chOff x="0" y="0"/>
            <a:chExt cx="14630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Computer and Communications Engineering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2400300"/>
            <a:ext cx="7680960" cy="3495332"/>
            <a:chOff x="0" y="0"/>
            <a:chExt cx="10241280" cy="4660443"/>
          </a:xfrm>
        </p:grpSpPr>
        <p:sp>
          <p:nvSpPr>
            <p:cNvPr name="Freeform 10" id="10" descr="HYPNEXIS 26 logo"/>
            <p:cNvSpPr/>
            <p:nvPr/>
          </p:nvSpPr>
          <p:spPr>
            <a:xfrm flipH="false" flipV="false" rot="0">
              <a:off x="0" y="0"/>
              <a:ext cx="10241280" cy="4660392"/>
            </a:xfrm>
            <a:custGeom>
              <a:avLst/>
              <a:gdLst/>
              <a:ahLst/>
              <a:cxnLst/>
              <a:rect r="r" b="b" t="t" l="l"/>
              <a:pathLst>
                <a:path h="46603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4660392"/>
                  </a:lnTo>
                  <a:lnTo>
                    <a:pt x="0" y="4660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6789420"/>
            <a:ext cx="9601200" cy="480060"/>
            <a:chOff x="0" y="0"/>
            <a:chExt cx="12801600" cy="64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01600" cy="640080"/>
            </a:xfrm>
            <a:custGeom>
              <a:avLst/>
              <a:gdLst/>
              <a:ahLst/>
              <a:cxnLst/>
              <a:rect r="r" b="b" t="t" l="l"/>
              <a:pathLst>
                <a:path h="64008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28016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450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36-HOUR HACKATHON  •  24–25 OCTOBER 2026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7338060"/>
            <a:ext cx="9601200" cy="411480"/>
            <a:chOff x="0" y="0"/>
            <a:chExt cx="128016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2801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5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BUILD / INNOVATE / CREATE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414635" y="2047875"/>
            <a:ext cx="7151370" cy="6739890"/>
            <a:chOff x="0" y="0"/>
            <a:chExt cx="9535160" cy="8986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535160" cy="8986520"/>
            </a:xfrm>
            <a:custGeom>
              <a:avLst/>
              <a:gdLst/>
              <a:ahLst/>
              <a:cxnLst/>
              <a:rect r="r" b="b" t="t" l="l"/>
              <a:pathLst>
                <a:path h="8986520" w="9535160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9315069" y="0"/>
                  </a:lnTo>
                  <a:cubicBezTo>
                    <a:pt x="9436608" y="0"/>
                    <a:pt x="9535160" y="98552"/>
                    <a:pt x="9535160" y="220091"/>
                  </a:cubicBezTo>
                  <a:lnTo>
                    <a:pt x="9535160" y="8766429"/>
                  </a:lnTo>
                  <a:cubicBezTo>
                    <a:pt x="9535160" y="8887968"/>
                    <a:pt x="9436608" y="8986520"/>
                    <a:pt x="9315069" y="8986520"/>
                  </a:cubicBezTo>
                  <a:lnTo>
                    <a:pt x="220091" y="8986520"/>
                  </a:lnTo>
                  <a:cubicBezTo>
                    <a:pt x="98552" y="8986520"/>
                    <a:pt x="0" y="8887968"/>
                    <a:pt x="0" y="8766429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0835640" y="2331720"/>
            <a:ext cx="6446520" cy="384048"/>
            <a:chOff x="0" y="0"/>
            <a:chExt cx="8595360" cy="5120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595360" cy="512064"/>
            </a:xfrm>
            <a:custGeom>
              <a:avLst/>
              <a:gdLst/>
              <a:ahLst/>
              <a:cxnLst/>
              <a:rect r="r" b="b" t="t" l="l"/>
              <a:pathLst>
                <a:path h="51206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7070" r="0" b="-27707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859536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TEAM NAME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835640" y="2702052"/>
            <a:ext cx="6446520" cy="521208"/>
            <a:chOff x="0" y="0"/>
            <a:chExt cx="8595360" cy="69494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595360" cy="694944"/>
            </a:xfrm>
            <a:custGeom>
              <a:avLst/>
              <a:gdLst/>
              <a:ahLst/>
              <a:cxnLst/>
              <a:rect r="r" b="b" t="t" l="l"/>
              <a:pathLst>
                <a:path h="69494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0999" r="0" b="-19099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59536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Plot Armor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835640" y="3374136"/>
            <a:ext cx="6446520" cy="384048"/>
            <a:chOff x="0" y="0"/>
            <a:chExt cx="8595360" cy="5120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595360" cy="512064"/>
            </a:xfrm>
            <a:custGeom>
              <a:avLst/>
              <a:gdLst/>
              <a:ahLst/>
              <a:cxnLst/>
              <a:rect r="r" b="b" t="t" l="l"/>
              <a:pathLst>
                <a:path h="51206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7070" r="0" b="-27707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859536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TEAM ID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835640" y="3744468"/>
            <a:ext cx="6446520" cy="521208"/>
            <a:chOff x="0" y="0"/>
            <a:chExt cx="8595360" cy="6949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595360" cy="694944"/>
            </a:xfrm>
            <a:custGeom>
              <a:avLst/>
              <a:gdLst/>
              <a:ahLst/>
              <a:cxnLst/>
              <a:rect r="r" b="b" t="t" l="l"/>
              <a:pathLst>
                <a:path h="69494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0999" r="0" b="-19099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59536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U6USN474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835640" y="4416552"/>
            <a:ext cx="6446520" cy="384048"/>
            <a:chOff x="0" y="0"/>
            <a:chExt cx="8595360" cy="5120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595360" cy="512064"/>
            </a:xfrm>
            <a:custGeom>
              <a:avLst/>
              <a:gdLst/>
              <a:ahLst/>
              <a:cxnLst/>
              <a:rect r="r" b="b" t="t" l="l"/>
              <a:pathLst>
                <a:path h="51206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7070" r="0" b="-27707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859536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 STATEMENT ID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835640" y="4786884"/>
            <a:ext cx="6446520" cy="521208"/>
            <a:chOff x="0" y="0"/>
            <a:chExt cx="8595360" cy="69494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595360" cy="694944"/>
            </a:xfrm>
            <a:custGeom>
              <a:avLst/>
              <a:gdLst/>
              <a:ahLst/>
              <a:cxnLst/>
              <a:rect r="r" b="b" t="t" l="l"/>
              <a:pathLst>
                <a:path h="69494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0999" r="0" b="-19099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859536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HM-02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835640" y="5458968"/>
            <a:ext cx="6446520" cy="384048"/>
            <a:chOff x="0" y="0"/>
            <a:chExt cx="8595360" cy="51206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595360" cy="512064"/>
            </a:xfrm>
            <a:custGeom>
              <a:avLst/>
              <a:gdLst/>
              <a:ahLst/>
              <a:cxnLst/>
              <a:rect r="r" b="b" t="t" l="l"/>
              <a:pathLst>
                <a:path h="51206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7070" r="0" b="-27707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859536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 STATEMENT TITLE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835640" y="5829300"/>
            <a:ext cx="6446520" cy="842218"/>
            <a:chOff x="0" y="0"/>
            <a:chExt cx="8595360" cy="112295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595360" cy="1122958"/>
            </a:xfrm>
            <a:custGeom>
              <a:avLst/>
              <a:gdLst/>
              <a:ahLst/>
              <a:cxnLst/>
              <a:rect r="r" b="b" t="t" l="l"/>
              <a:pathLst>
                <a:path h="1122958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122958"/>
                  </a:lnTo>
                  <a:lnTo>
                    <a:pt x="0" y="112295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8200" r="0" b="-8008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8595360" cy="11610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spc="48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Prescr</a:t>
              </a:r>
              <a:r>
                <a:rPr lang="en-US" sz="2400" spc="48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iption Safety Checker for Indian Brand Medicines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835640" y="6769608"/>
            <a:ext cx="6446520" cy="384048"/>
            <a:chOff x="0" y="0"/>
            <a:chExt cx="8595360" cy="51206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595360" cy="512064"/>
            </a:xfrm>
            <a:custGeom>
              <a:avLst/>
              <a:gdLst/>
              <a:ahLst/>
              <a:cxnLst/>
              <a:rect r="r" b="b" t="t" l="l"/>
              <a:pathLst>
                <a:path h="51206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7070" r="0" b="-27707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859536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THEME / DOMAIN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835640" y="7108698"/>
            <a:ext cx="6446520" cy="521208"/>
            <a:chOff x="0" y="0"/>
            <a:chExt cx="8595360" cy="69494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595360" cy="694944"/>
            </a:xfrm>
            <a:custGeom>
              <a:avLst/>
              <a:gdLst/>
              <a:ahLst/>
              <a:cxnLst/>
              <a:rect r="r" b="b" t="t" l="l"/>
              <a:pathLst>
                <a:path h="69494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0999" r="0" b="-19099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859536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 &amp; MedTech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835640" y="7705725"/>
            <a:ext cx="6446520" cy="384048"/>
            <a:chOff x="0" y="0"/>
            <a:chExt cx="8595360" cy="51206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595360" cy="512064"/>
            </a:xfrm>
            <a:custGeom>
              <a:avLst/>
              <a:gdLst/>
              <a:ahLst/>
              <a:cxnLst/>
              <a:rect r="r" b="b" t="t" l="l"/>
              <a:pathLst>
                <a:path h="51206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7070" r="0" b="-27707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859536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CATEGORY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835640" y="8080248"/>
            <a:ext cx="6446520" cy="521208"/>
            <a:chOff x="0" y="0"/>
            <a:chExt cx="8595360" cy="69494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595360" cy="694944"/>
            </a:xfrm>
            <a:custGeom>
              <a:avLst/>
              <a:gdLst/>
              <a:ahLst/>
              <a:cxnLst/>
              <a:rect r="r" b="b" t="t" l="l"/>
              <a:pathLst>
                <a:path h="69494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0999" r="0" b="-19099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859536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Software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22960" y="9532620"/>
            <a:ext cx="16596360" cy="411480"/>
            <a:chOff x="0" y="0"/>
            <a:chExt cx="2212848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128480" cy="548640"/>
            </a:xfrm>
            <a:custGeom>
              <a:avLst/>
              <a:gdLst/>
              <a:ahLst/>
              <a:cxnLst/>
              <a:rect r="r" b="b" t="t" l="l"/>
              <a:pathLst>
                <a:path h="5486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35896" r="0" b="-73589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221284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hypnexismuj.com   |   @hypnexis.muj   |   hypnexis2026@muj.manipal.edu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85800" y="438912"/>
            <a:ext cx="1657741" cy="754380"/>
            <a:chOff x="0" y="0"/>
            <a:chExt cx="2210321" cy="1005840"/>
          </a:xfrm>
        </p:grpSpPr>
        <p:sp>
          <p:nvSpPr>
            <p:cNvPr name="Freeform 4" id="4" descr="logo_white.png"/>
            <p:cNvSpPr/>
            <p:nvPr/>
          </p:nvSpPr>
          <p:spPr>
            <a:xfrm flipH="false" flipV="false" rot="0">
              <a:off x="0" y="0"/>
              <a:ext cx="2210308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0308">
                  <a:moveTo>
                    <a:pt x="0" y="0"/>
                  </a:moveTo>
                  <a:lnTo>
                    <a:pt x="2210308" y="0"/>
                  </a:lnTo>
                  <a:lnTo>
                    <a:pt x="2210308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389120" y="548640"/>
            <a:ext cx="13167360" cy="548640"/>
            <a:chOff x="0" y="0"/>
            <a:chExt cx="17556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55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7556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spc="449">
                  <a:solidFill>
                    <a:srgbClr val="9CC4FF"/>
                  </a:solidFill>
                  <a:latin typeface="Arial"/>
                  <a:ea typeface="Arial"/>
                  <a:cs typeface="Arial"/>
                  <a:sym typeface="Arial"/>
                </a:rPr>
                <a:t>36-HOUR HACKATHON  |  24–25 OCTOBER 2026  |  MANIPAL UNIVERSITY JAIPUR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9532620"/>
            <a:ext cx="16911828" cy="13716"/>
            <a:chOff x="0" y="0"/>
            <a:chExt cx="22549104" cy="182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49104" cy="18288"/>
            </a:xfrm>
            <a:custGeom>
              <a:avLst/>
              <a:gdLst/>
              <a:ahLst/>
              <a:cxnLst/>
              <a:rect r="r" b="b" t="t" l="l"/>
              <a:pathLst>
                <a:path h="18288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E5BFF">
                <a:alpha val="24706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85800" y="9642348"/>
            <a:ext cx="12344400" cy="411480"/>
            <a:chOff x="0" y="0"/>
            <a:chExt cx="164592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45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Computer and Communications Engineering  •  Manipal University Jaipur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1440180"/>
            <a:ext cx="16911828" cy="1097280"/>
            <a:chOff x="0" y="0"/>
            <a:chExt cx="22549104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313" r="0" b="-250313"/>
              </a:stretch>
            </a:blipFill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2549104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46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PARCHI: COUNT DOSES, NOT BRANDS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755880" y="1645920"/>
            <a:ext cx="4841748" cy="480060"/>
            <a:chOff x="0" y="0"/>
            <a:chExt cx="6455664" cy="640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55664" cy="640080"/>
            </a:xfrm>
            <a:custGeom>
              <a:avLst/>
              <a:gdLst/>
              <a:ahLst/>
              <a:cxnLst/>
              <a:rect r="r" b="b" t="t" l="l"/>
              <a:pathLst>
                <a:path h="640080" w="6455664">
                  <a:moveTo>
                    <a:pt x="0" y="0"/>
                  </a:moveTo>
                  <a:lnTo>
                    <a:pt x="6455664" y="0"/>
                  </a:lnTo>
                  <a:lnTo>
                    <a:pt x="645566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6520" r="0" b="-14652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455664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Plot Armor  |  U6USN474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76275" y="2527935"/>
            <a:ext cx="8248650" cy="6671310"/>
            <a:chOff x="0" y="0"/>
            <a:chExt cx="10998200" cy="8895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98200" cy="8895080"/>
            </a:xfrm>
            <a:custGeom>
              <a:avLst/>
              <a:gdLst/>
              <a:ahLst/>
              <a:cxnLst/>
              <a:rect r="r" b="b" t="t" l="l"/>
              <a:pathLst>
                <a:path h="8895080" w="10998200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10778109" y="0"/>
                  </a:lnTo>
                  <a:cubicBezTo>
                    <a:pt x="10899648" y="0"/>
                    <a:pt x="10998200" y="98552"/>
                    <a:pt x="10998200" y="220091"/>
                  </a:cubicBezTo>
                  <a:lnTo>
                    <a:pt x="10998200" y="8674989"/>
                  </a:lnTo>
                  <a:cubicBezTo>
                    <a:pt x="10998200" y="8796528"/>
                    <a:pt x="10899648" y="8895080"/>
                    <a:pt x="10778109" y="8895080"/>
                  </a:cubicBezTo>
                  <a:lnTo>
                    <a:pt x="220091" y="8895080"/>
                  </a:lnTo>
                  <a:cubicBezTo>
                    <a:pt x="98552" y="8895080"/>
                    <a:pt x="0" y="8796528"/>
                    <a:pt x="0" y="8674989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097280" y="2811780"/>
            <a:ext cx="7406640" cy="480060"/>
            <a:chOff x="0" y="0"/>
            <a:chExt cx="9875520" cy="640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875520" cy="640080"/>
            </a:xfrm>
            <a:custGeom>
              <a:avLst/>
              <a:gdLst/>
              <a:ahLst/>
              <a:cxnLst/>
              <a:rect r="r" b="b" t="t" l="l"/>
              <a:pathLst>
                <a:path h="64008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626" r="0" b="-25062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98755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 STATEMENT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97280" y="3381375"/>
            <a:ext cx="7406640" cy="553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400"/>
              </a:lnSpc>
              <a:spcAft>
                <a:spcPts val="1200"/>
              </a:spcAft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A brand name doesn't tell you what's inside. Combination pills hide repeats, and one name can even mean two drugs: </a:t>
            </a:r>
            <a:r>
              <a:rPr lang="en-US" sz="2000" b="1">
                <a:solidFill>
                  <a:srgbClr val="FFC857"/>
                </a:solidFill>
                <a:latin typeface="Calibri (MS)"/>
                <a:ea typeface="Calibri (MS)"/>
                <a:cs typeface="Calibri (MS)"/>
                <a:sym typeface="Calibri (MS)"/>
              </a:rPr>
              <a:t>Medzol</a:t>
            </a: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is sold as a sedative in one pack and an acid-reducer in another.</a:t>
            </a:r>
          </a:p>
          <a:p>
            <a:pPr algn="l" marL="380048" indent="-190024" lvl="1">
              <a:lnSpc>
                <a:spcPts val="2400"/>
              </a:lnSpc>
              <a:spcAft>
                <a:spcPts val="1200"/>
              </a:spcAft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The people with the most pills are hit hardest. </a:t>
            </a:r>
            <a:r>
              <a:rPr lang="en-US" sz="2000" b="1">
                <a:solidFill>
                  <a:srgbClr val="FFC857"/>
                </a:solidFill>
                <a:latin typeface="Calibri (MS)"/>
                <a:ea typeface="Calibri (MS)"/>
                <a:cs typeface="Calibri (MS)"/>
                <a:sym typeface="Calibri (MS)"/>
              </a:rPr>
              <a:t>49% of older Indians</a:t>
            </a: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take many medicines at once, often from doctors who each see only their own prescription.</a:t>
            </a:r>
          </a:p>
          <a:p>
            <a:pPr algn="l" marL="380048" indent="-190024" lvl="1">
              <a:lnSpc>
                <a:spcPts val="2400"/>
              </a:lnSpc>
              <a:spcAft>
                <a:spcPts val="1200"/>
              </a:spcAft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Today's tools don't close the gap. They check drugs two at a time, so a dose that adds up across three brands slips through. Hospital warning systems get </a:t>
            </a:r>
            <a:r>
              <a:rPr lang="en-US" sz="2000" b="1">
                <a:solidFill>
                  <a:srgbClr val="FFC857"/>
                </a:solidFill>
                <a:latin typeface="Calibri (MS)"/>
                <a:ea typeface="Calibri (MS)"/>
                <a:cs typeface="Calibri (MS)"/>
                <a:sym typeface="Calibri (MS)"/>
              </a:rPr>
              <a:t>overridden 46 to 96%</a:t>
            </a: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of the time, and chatbots grade how serious an interaction is correctly only </a:t>
            </a:r>
            <a:r>
              <a:rPr lang="en-US" sz="2000" b="1">
                <a:solidFill>
                  <a:srgbClr val="FFC857"/>
                </a:solidFill>
                <a:latin typeface="Calibri (MS)"/>
                <a:ea typeface="Calibri (MS)"/>
                <a:cs typeface="Calibri (MS)"/>
                <a:sym typeface="Calibri (MS)"/>
              </a:rPr>
              <a:t>37%</a:t>
            </a: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of the time.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358503" y="2527935"/>
            <a:ext cx="8248650" cy="4133850"/>
            <a:chOff x="0" y="0"/>
            <a:chExt cx="10998200" cy="5511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98200" cy="5511800"/>
            </a:xfrm>
            <a:custGeom>
              <a:avLst/>
              <a:gdLst/>
              <a:ahLst/>
              <a:cxnLst/>
              <a:rect r="r" b="b" t="t" l="l"/>
              <a:pathLst>
                <a:path h="5511800" w="1099820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10777728" y="0"/>
                  </a:lnTo>
                  <a:cubicBezTo>
                    <a:pt x="10899521" y="0"/>
                    <a:pt x="10998200" y="98679"/>
                    <a:pt x="10998200" y="220472"/>
                  </a:cubicBezTo>
                  <a:lnTo>
                    <a:pt x="10998200" y="5291328"/>
                  </a:lnTo>
                  <a:cubicBezTo>
                    <a:pt x="10998200" y="5413121"/>
                    <a:pt x="10899521" y="5511800"/>
                    <a:pt x="10777728" y="5511800"/>
                  </a:cubicBezTo>
                  <a:lnTo>
                    <a:pt x="220472" y="5511800"/>
                  </a:lnTo>
                  <a:cubicBezTo>
                    <a:pt x="98679" y="5511800"/>
                    <a:pt x="0" y="5413121"/>
                    <a:pt x="0" y="5291328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779508" y="2811780"/>
            <a:ext cx="7406640" cy="480060"/>
            <a:chOff x="0" y="0"/>
            <a:chExt cx="9875520" cy="6400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875520" cy="640080"/>
            </a:xfrm>
            <a:custGeom>
              <a:avLst/>
              <a:gdLst/>
              <a:ahLst/>
              <a:cxnLst/>
              <a:rect r="r" b="b" t="t" l="l"/>
              <a:pathLst>
                <a:path h="64008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626" r="0" b="-25062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98755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OUR SOLUTION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779508" y="3381375"/>
            <a:ext cx="7406640" cy="306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28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Parchi reads a prescription the way a careful pharmacist would. It works out what is really inside every brand, even a misspelt one, and adds up each ingredient across all brands and all doctors.</a:t>
            </a:r>
          </a:p>
          <a:p>
            <a:pPr algn="l" marL="380048" indent="-190024" lvl="1">
              <a:lnSpc>
                <a:spcPts val="228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Then it checks the total against the patient's age, weight and kidneys, and looks for repeats, clashes and banned combinations.</a:t>
            </a:r>
          </a:p>
          <a:p>
            <a:pPr algn="l" marL="380048" indent="-190024" lvl="1">
              <a:lnSpc>
                <a:spcPts val="228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What's different: it counts </a:t>
            </a:r>
            <a:r>
              <a:rPr lang="en-US" sz="1900" b="1">
                <a:solidFill>
                  <a:srgbClr val="FFC857"/>
                </a:solidFill>
                <a:latin typeface="Calibri (MS)"/>
                <a:ea typeface="Calibri (MS)"/>
                <a:cs typeface="Calibri (MS)"/>
                <a:sym typeface="Calibri (MS)"/>
              </a:rPr>
              <a:t>doses</a:t>
            </a:r>
            <a:r>
              <a:rPr lang="en-US" sz="1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, not just pairs of drugs, and it is built for Indian brand names and the way Indian doctors write dosing.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358503" y="6917055"/>
            <a:ext cx="8248650" cy="2282190"/>
            <a:chOff x="0" y="0"/>
            <a:chExt cx="10998200" cy="30429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98200" cy="3042920"/>
            </a:xfrm>
            <a:custGeom>
              <a:avLst/>
              <a:gdLst/>
              <a:ahLst/>
              <a:cxnLst/>
              <a:rect r="r" b="b" t="t" l="l"/>
              <a:pathLst>
                <a:path h="3042920" w="10998200">
                  <a:moveTo>
                    <a:pt x="0" y="221361"/>
                  </a:moveTo>
                  <a:cubicBezTo>
                    <a:pt x="0" y="99060"/>
                    <a:pt x="99060" y="0"/>
                    <a:pt x="221361" y="0"/>
                  </a:cubicBezTo>
                  <a:lnTo>
                    <a:pt x="10776839" y="0"/>
                  </a:lnTo>
                  <a:cubicBezTo>
                    <a:pt x="10899140" y="0"/>
                    <a:pt x="10998200" y="99060"/>
                    <a:pt x="10998200" y="221361"/>
                  </a:cubicBezTo>
                  <a:lnTo>
                    <a:pt x="10998200" y="2821559"/>
                  </a:lnTo>
                  <a:cubicBezTo>
                    <a:pt x="10998200" y="2943733"/>
                    <a:pt x="10899140" y="3042920"/>
                    <a:pt x="10776839" y="3042920"/>
                  </a:cubicBezTo>
                  <a:lnTo>
                    <a:pt x="221361" y="3042920"/>
                  </a:lnTo>
                  <a:cubicBezTo>
                    <a:pt x="99060" y="3042920"/>
                    <a:pt x="0" y="2943860"/>
                    <a:pt x="0" y="2821559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6824960" y="9669018"/>
            <a:ext cx="681228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9CC4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97280" y="7818120"/>
            <a:ext cx="7406640" cy="1097280"/>
          </a:xfrm>
          <a:prstGeom prst="roundRect">
            <a:avLst>
              <a:gd name="adj" fmla="val 12500"/>
            </a:avLst>
          </a:prstGeom>
          <a:solidFill>
            <a:srgbClr val="163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7432" bIns="27432" wrap="square"/>
          <a:lstStyle/>
          <a:p>
            <a:pPr algn="l"/>
            <a:r>
              <a:rPr sz="1700" i="0" b="1">
                <a:solidFill>
                  <a:srgbClr val="9CC4FF"/>
                </a:solidFill>
                <a:latin typeface="Calibri (MS)"/>
              </a:rPr>
              <a:t>Did you know?</a:t>
            </a:r>
            <a:r>
              <a:rPr sz="1700" i="0" b="0">
                <a:solidFill>
                  <a:srgbClr val="FFFFFF"/>
                </a:solidFill>
                <a:latin typeface="Calibri (MS)"/>
              </a:rPr>
              <a:t> In September 2026 alone, India's drug regulator flagged </a:t>
            </a:r>
            <a:r>
              <a:rPr sz="1700" i="0" b="1">
                <a:solidFill>
                  <a:srgbClr val="FFC857"/>
                </a:solidFill>
                <a:latin typeface="Calibri (MS)"/>
              </a:rPr>
              <a:t>330 medicine samples</a:t>
            </a:r>
            <a:r>
              <a:rPr sz="1700" i="0" b="0">
                <a:solidFill>
                  <a:srgbClr val="FFFFFF"/>
                </a:solidFill>
                <a:latin typeface="Calibri (MS)"/>
              </a:rPr>
              <a:t> as not of standard quality.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7077456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i="0" b="1">
                <a:solidFill>
                  <a:srgbClr val="4DA3FF"/>
                </a:solidFill>
                <a:latin typeface="Calibri (MS)"/>
              </a:rPr>
              <a:t>ONE DRUG, HIDDEN IN THREE BRANDS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46920" y="7461504"/>
            <a:ext cx="3154680" cy="457200"/>
          </a:xfrm>
          <a:prstGeom prst="roundRect">
            <a:avLst>
              <a:gd name="adj" fmla="val 24000"/>
            </a:avLst>
          </a:prstGeom>
          <a:solidFill>
            <a:srgbClr val="12245E"/>
          </a:solidFill>
          <a:ln w="15875">
            <a:solidFill>
              <a:srgbClr val="1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 wrap="square"/>
          <a:lstStyle/>
          <a:p>
            <a:pPr algn="l"/>
            <a:r>
              <a:rPr sz="1400" i="0" b="0">
                <a:solidFill>
                  <a:srgbClr val="FFFFFF"/>
                </a:solidFill>
                <a:latin typeface="Calibri (MS)"/>
              </a:rPr>
              <a:t>Dolo 650  1-1-1  →  </a:t>
            </a:r>
            <a:r>
              <a:rPr sz="1400" i="0" b="1">
                <a:solidFill>
                  <a:srgbClr val="9CC4FF"/>
                </a:solidFill>
                <a:latin typeface="Calibri (MS)"/>
              </a:rPr>
              <a:t>1,950 mg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46920" y="8010144"/>
            <a:ext cx="3154680" cy="457200"/>
          </a:xfrm>
          <a:prstGeom prst="roundRect">
            <a:avLst>
              <a:gd name="adj" fmla="val 24000"/>
            </a:avLst>
          </a:prstGeom>
          <a:solidFill>
            <a:srgbClr val="12245E"/>
          </a:solidFill>
          <a:ln w="15875">
            <a:solidFill>
              <a:srgbClr val="1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 wrap="square"/>
          <a:lstStyle/>
          <a:p>
            <a:pPr algn="l"/>
            <a:r>
              <a:rPr sz="1400" i="0" b="0">
                <a:solidFill>
                  <a:srgbClr val="FFFFFF"/>
                </a:solidFill>
                <a:latin typeface="Calibri (MS)"/>
              </a:rPr>
              <a:t>Crocin Cold&amp;Flu  TDS  →  </a:t>
            </a:r>
            <a:r>
              <a:rPr sz="1400" i="0" b="1">
                <a:solidFill>
                  <a:srgbClr val="9CC4FF"/>
                </a:solidFill>
                <a:latin typeface="Calibri (MS)"/>
              </a:rPr>
              <a:t>1,500 mg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46920" y="8558784"/>
            <a:ext cx="3154680" cy="457200"/>
          </a:xfrm>
          <a:prstGeom prst="roundRect">
            <a:avLst>
              <a:gd name="adj" fmla="val 24000"/>
            </a:avLst>
          </a:prstGeom>
          <a:solidFill>
            <a:srgbClr val="12245E"/>
          </a:solidFill>
          <a:ln w="15875">
            <a:solidFill>
              <a:srgbClr val="1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 wrap="square"/>
          <a:lstStyle/>
          <a:p>
            <a:pPr algn="l"/>
            <a:r>
              <a:rPr sz="1400" i="0" b="0">
                <a:solidFill>
                  <a:srgbClr val="FFFFFF"/>
                </a:solidFill>
                <a:latin typeface="Calibri (MS)"/>
              </a:rPr>
              <a:t>Zerodol-P  BD  →  </a:t>
            </a:r>
            <a:r>
              <a:rPr sz="1400" i="0" b="1">
                <a:solidFill>
                  <a:srgbClr val="9CC4FF"/>
                </a:solidFill>
                <a:latin typeface="Calibri (MS)"/>
              </a:rPr>
              <a:t>650 mg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12893040" y="7973568"/>
            <a:ext cx="411480" cy="384048"/>
          </a:xfrm>
          <a:prstGeom prst="rightArrow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3395960" y="7461504"/>
            <a:ext cx="2148840" cy="1554480"/>
          </a:xfrm>
          <a:prstGeom prst="roundRect">
            <a:avLst>
              <a:gd name="adj" fmla="val 7058"/>
            </a:avLst>
          </a:prstGeom>
          <a:solidFill>
            <a:srgbClr val="16306F"/>
          </a:solidFill>
          <a:ln w="15875">
            <a:solidFill>
              <a:srgbClr val="1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 wrap="square"/>
          <a:lstStyle/>
          <a:p>
            <a:pPr algn="ctr"/>
            <a:r>
              <a:rPr sz="1400" i="0" b="0">
                <a:solidFill>
                  <a:srgbClr val="FFFFFF"/>
                </a:solidFill>
                <a:latin typeface="Calibri (MS)"/>
              </a:rPr>
              <a:t>Paracetamol</a:t>
            </a:r>
          </a:p>
          <a:p>
            <a:pPr algn="ctr"/>
            <a:r>
              <a:rPr sz="1400" i="0" b="1">
                <a:solidFill>
                  <a:srgbClr val="FFC857"/>
                </a:solidFill>
                <a:latin typeface="Calibri (MS)"/>
              </a:rPr>
              <a:t>4,100 mg/day</a:t>
            </a:r>
          </a:p>
          <a:p>
            <a:pPr algn="ctr"/>
            <a:r>
              <a:rPr sz="1400" i="0" b="0">
                <a:solidFill>
                  <a:srgbClr val="FFFFFF"/>
                </a:solidFill>
                <a:latin typeface="Calibri (MS)"/>
              </a:rPr>
              <a:t>vs 4,000 mg limit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15636240" y="7973568"/>
            <a:ext cx="411480" cy="384048"/>
          </a:xfrm>
          <a:prstGeom prst="rightArrow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6093440" y="7909560"/>
            <a:ext cx="1325880" cy="640080"/>
          </a:xfrm>
          <a:prstGeom prst="roundRect">
            <a:avLst>
              <a:gd name="adj" fmla="val 28571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 wrap="square"/>
          <a:lstStyle/>
          <a:p>
            <a:pPr algn="ctr"/>
            <a:r>
              <a:rPr sz="1300" i="0" b="1">
                <a:solidFill>
                  <a:srgbClr val="FFFFFF"/>
                </a:solidFill>
                <a:latin typeface="Calibri (MS)"/>
              </a:rPr>
              <a:t>INTERRUPT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85800" y="438912"/>
            <a:ext cx="1657741" cy="754380"/>
            <a:chOff x="0" y="0"/>
            <a:chExt cx="2210321" cy="1005840"/>
          </a:xfrm>
        </p:grpSpPr>
        <p:sp>
          <p:nvSpPr>
            <p:cNvPr name="Freeform 4" id="4" descr="logo_white.png"/>
            <p:cNvSpPr/>
            <p:nvPr/>
          </p:nvSpPr>
          <p:spPr>
            <a:xfrm flipH="false" flipV="false" rot="0">
              <a:off x="0" y="0"/>
              <a:ext cx="2210308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0308">
                  <a:moveTo>
                    <a:pt x="0" y="0"/>
                  </a:moveTo>
                  <a:lnTo>
                    <a:pt x="2210308" y="0"/>
                  </a:lnTo>
                  <a:lnTo>
                    <a:pt x="2210308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389120" y="548640"/>
            <a:ext cx="13167360" cy="548640"/>
            <a:chOff x="0" y="0"/>
            <a:chExt cx="17556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55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7556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spc="449">
                  <a:solidFill>
                    <a:srgbClr val="9CC4FF"/>
                  </a:solidFill>
                  <a:latin typeface="Arial"/>
                  <a:ea typeface="Arial"/>
                  <a:cs typeface="Arial"/>
                  <a:sym typeface="Arial"/>
                </a:rPr>
                <a:t>36-HOUR HACKATHON  |  24–25 OCTOBER 2026  |  MANIPAL UNIVERSITY JAIPUR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9532620"/>
            <a:ext cx="16911828" cy="13716"/>
            <a:chOff x="0" y="0"/>
            <a:chExt cx="22549104" cy="182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49104" cy="18288"/>
            </a:xfrm>
            <a:custGeom>
              <a:avLst/>
              <a:gdLst/>
              <a:ahLst/>
              <a:cxnLst/>
              <a:rect r="r" b="b" t="t" l="l"/>
              <a:pathLst>
                <a:path h="18288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E5BFF">
                <a:alpha val="24706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85800" y="9642348"/>
            <a:ext cx="12344400" cy="411480"/>
            <a:chOff x="0" y="0"/>
            <a:chExt cx="164592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45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Computer and Communications Engineering  •  Manipal University Jaipur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1440180"/>
            <a:ext cx="16911828" cy="1097280"/>
            <a:chOff x="0" y="0"/>
            <a:chExt cx="22549104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2549104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TECHNICAL APPROACH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6275" y="2527935"/>
            <a:ext cx="8248650" cy="6671310"/>
            <a:chOff x="0" y="0"/>
            <a:chExt cx="10998200" cy="8895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98200" cy="8895080"/>
            </a:xfrm>
            <a:custGeom>
              <a:avLst/>
              <a:gdLst/>
              <a:ahLst/>
              <a:cxnLst/>
              <a:rect r="r" b="b" t="t" l="l"/>
              <a:pathLst>
                <a:path h="8895080" w="10998200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10778109" y="0"/>
                  </a:lnTo>
                  <a:cubicBezTo>
                    <a:pt x="10899648" y="0"/>
                    <a:pt x="10998200" y="98552"/>
                    <a:pt x="10998200" y="220091"/>
                  </a:cubicBezTo>
                  <a:lnTo>
                    <a:pt x="10998200" y="8674989"/>
                  </a:lnTo>
                  <a:cubicBezTo>
                    <a:pt x="10998200" y="8796528"/>
                    <a:pt x="10899648" y="8895080"/>
                    <a:pt x="10778109" y="8895080"/>
                  </a:cubicBezTo>
                  <a:lnTo>
                    <a:pt x="220091" y="8895080"/>
                  </a:lnTo>
                  <a:cubicBezTo>
                    <a:pt x="98552" y="8895080"/>
                    <a:pt x="0" y="8796528"/>
                    <a:pt x="0" y="8674989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97280" y="2811780"/>
            <a:ext cx="7406640" cy="480060"/>
            <a:chOff x="0" y="0"/>
            <a:chExt cx="987552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875520" cy="640080"/>
            </a:xfrm>
            <a:custGeom>
              <a:avLst/>
              <a:gdLst/>
              <a:ahLst/>
              <a:cxnLst/>
              <a:rect r="r" b="b" t="t" l="l"/>
              <a:pathLst>
                <a:path h="64008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626" r="0" b="-25062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98755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SYSTEM ARCHITECTURE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97280" y="6263640"/>
            <a:ext cx="7406640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160"/>
              </a:lnSpc>
              <a:spcAft>
                <a:spcPts val="700"/>
              </a:spcAft>
              <a:buFont typeface="Arial"/>
              <a:buChar char="•"/>
            </a:pPr>
            <a:r>
              <a:rPr lang="en-US" sz="1800" b="1">
                <a:solidFill>
                  <a:srgbClr val="9CC4FF"/>
                </a:solidFill>
                <a:latin typeface="Calibri (MS)"/>
                <a:ea typeface="Calibri (MS)"/>
                <a:cs typeface="Calibri (MS)"/>
                <a:sym typeface="Calibri (MS)"/>
              </a:rPr>
              <a:t>Data in.</a:t>
            </a: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Every line passes a brand matcher that forgives typos and sound-alikes, so 'dollo' and 'Brufan' still land on Dolo and Brufen.</a:t>
            </a:r>
          </a:p>
          <a:p>
            <a:pPr algn="l" marL="380048" indent="-190024" lvl="1">
              <a:lnSpc>
                <a:spcPts val="2160"/>
              </a:lnSpc>
              <a:spcAft>
                <a:spcPts val="700"/>
              </a:spcAft>
              <a:buFont typeface="Arial"/>
              <a:buChar char="•"/>
            </a:pPr>
            <a:r>
              <a:rPr lang="en-US" sz="1800" b="1">
                <a:solidFill>
                  <a:srgbClr val="9CC4FF"/>
                </a:solidFill>
                <a:latin typeface="Calibri (MS)"/>
                <a:ea typeface="Calibri (MS)"/>
                <a:cs typeface="Calibri (MS)"/>
                <a:sym typeface="Calibri (MS)"/>
              </a:rPr>
              <a:t>Dose maths.</a:t>
            </a: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A reader turns 1-0-1, TDS and SOS into doses a day, and a ledger adds up each ingredient, brand by brand. 'As needed' is counted at its daily maximum.</a:t>
            </a:r>
          </a:p>
          <a:p>
            <a:pPr algn="l" marL="380048" indent="-190024" lvl="1">
              <a:lnSpc>
                <a:spcPts val="2160"/>
              </a:lnSpc>
              <a:spcAft>
                <a:spcPts val="700"/>
              </a:spcAft>
              <a:buFont typeface="Arial"/>
              <a:buChar char="•"/>
            </a:pPr>
            <a:r>
              <a:rPr lang="en-US" sz="1800" b="1">
                <a:solidFill>
                  <a:srgbClr val="9CC4FF"/>
                </a:solidFill>
                <a:latin typeface="Calibri (MS)"/>
                <a:ea typeface="Calibri (MS)"/>
                <a:cs typeface="Calibri (MS)"/>
                <a:sym typeface="Calibri (MS)"/>
              </a:rPr>
              <a:t>Alerts out.</a:t>
            </a: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Rules compare the totals with limits and look for clashes. What comes out is ranked, with a reason and a source on every alert.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358503" y="2527935"/>
            <a:ext cx="8248650" cy="3242310"/>
            <a:chOff x="0" y="0"/>
            <a:chExt cx="10998200" cy="4323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98200" cy="4323080"/>
            </a:xfrm>
            <a:custGeom>
              <a:avLst/>
              <a:gdLst/>
              <a:ahLst/>
              <a:cxnLst/>
              <a:rect r="r" b="b" t="t" l="l"/>
              <a:pathLst>
                <a:path h="4323080" w="1099820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10777474" y="0"/>
                  </a:lnTo>
                  <a:cubicBezTo>
                    <a:pt x="10899394" y="0"/>
                    <a:pt x="10998200" y="98806"/>
                    <a:pt x="10998200" y="220726"/>
                  </a:cubicBezTo>
                  <a:lnTo>
                    <a:pt x="10998200" y="4102354"/>
                  </a:lnTo>
                  <a:cubicBezTo>
                    <a:pt x="10998200" y="4224274"/>
                    <a:pt x="10899394" y="4323080"/>
                    <a:pt x="10777474" y="4323080"/>
                  </a:cubicBezTo>
                  <a:lnTo>
                    <a:pt x="220726" y="4323080"/>
                  </a:lnTo>
                  <a:cubicBezTo>
                    <a:pt x="98806" y="4323080"/>
                    <a:pt x="0" y="4224274"/>
                    <a:pt x="0" y="4102354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779508" y="2811780"/>
            <a:ext cx="7406640" cy="480060"/>
            <a:chOff x="0" y="0"/>
            <a:chExt cx="9875520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875520" cy="640080"/>
            </a:xfrm>
            <a:custGeom>
              <a:avLst/>
              <a:gdLst/>
              <a:ahLst/>
              <a:cxnLst/>
              <a:rect r="r" b="b" t="t" l="l"/>
              <a:pathLst>
                <a:path h="64008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626" r="0" b="-25062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98755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CORE TECHNOLOGIES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779508" y="3381375"/>
            <a:ext cx="7406640" cy="224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040"/>
              </a:lnSpc>
              <a:spcAft>
                <a:spcPts val="600"/>
              </a:spcAft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TypeScript, React and Vite, packaged as an installable web app (PWA). One build runs on any phone, tablet or PC with a browser.</a:t>
            </a:r>
          </a:p>
          <a:p>
            <a:pPr algn="l" marL="380048" indent="-190024" lvl="1">
              <a:lnSpc>
                <a:spcPts val="2040"/>
              </a:lnSpc>
              <a:spcAft>
                <a:spcPts val="600"/>
              </a:spcAft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Python cleans the public drug data once. Two libraries do the heavy lifting: fuse.js for fuzzy matching and Workbox to cache the app.</a:t>
            </a:r>
          </a:p>
          <a:p>
            <a:pPr algn="l" marL="380048" indent="-190024" lvl="1">
              <a:lnSpc>
                <a:spcPts val="2040"/>
              </a:lnSpc>
              <a:spcAft>
                <a:spcPts val="600"/>
              </a:spcAft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 small Vercel API lets an e-pharmacy plug Parchi into its own system. An AI model (Gemini or Claude) only reads messy dosing text and drafts customer leaflets. It never decides an alert.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358503" y="6025515"/>
            <a:ext cx="8248650" cy="3173730"/>
            <a:chOff x="0" y="0"/>
            <a:chExt cx="10998200" cy="4231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98200" cy="4231640"/>
            </a:xfrm>
            <a:custGeom>
              <a:avLst/>
              <a:gdLst/>
              <a:ahLst/>
              <a:cxnLst/>
              <a:rect r="r" b="b" t="t" l="l"/>
              <a:pathLst>
                <a:path h="4231640" w="1099820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10777474" y="0"/>
                  </a:lnTo>
                  <a:cubicBezTo>
                    <a:pt x="10899394" y="0"/>
                    <a:pt x="10998200" y="98806"/>
                    <a:pt x="10998200" y="220726"/>
                  </a:cubicBezTo>
                  <a:lnTo>
                    <a:pt x="10998200" y="4010914"/>
                  </a:lnTo>
                  <a:cubicBezTo>
                    <a:pt x="10998200" y="4132834"/>
                    <a:pt x="10899394" y="4231640"/>
                    <a:pt x="10777474" y="4231640"/>
                  </a:cubicBezTo>
                  <a:lnTo>
                    <a:pt x="220726" y="4231640"/>
                  </a:lnTo>
                  <a:cubicBezTo>
                    <a:pt x="98806" y="4231640"/>
                    <a:pt x="0" y="4132834"/>
                    <a:pt x="0" y="4010914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779508" y="6309360"/>
            <a:ext cx="7406640" cy="480060"/>
            <a:chOff x="0" y="0"/>
            <a:chExt cx="9875520" cy="640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875520" cy="640080"/>
            </a:xfrm>
            <a:custGeom>
              <a:avLst/>
              <a:gdLst/>
              <a:ahLst/>
              <a:cxnLst/>
              <a:rect r="r" b="b" t="t" l="l"/>
              <a:pathLst>
                <a:path h="64008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626" r="0" b="-25062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98755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UNIQUE POINTS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779508" y="6878955"/>
            <a:ext cx="7406640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160"/>
              </a:lnSpc>
              <a:spcAft>
                <a:spcPts val="700"/>
              </a:spcAft>
              <a:buFont typeface="Arial"/>
              <a:buChar char="•"/>
            </a:pPr>
            <a:r>
              <a:rPr lang="en-US" sz="1800" b="1">
                <a:solidFill>
                  <a:srgbClr val="9CC4FF"/>
                </a:solidFill>
                <a:latin typeface="Calibri (MS)"/>
                <a:ea typeface="Calibri (MS)"/>
                <a:cs typeface="Calibri (MS)"/>
                <a:sym typeface="Calibri (MS)"/>
              </a:rPr>
              <a:t>Same slip, same answer.</a:t>
            </a: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Rules decide, so a pharmacist can always ask why.</a:t>
            </a:r>
          </a:p>
          <a:p>
            <a:pPr algn="l" marL="380048" indent="-190024" lvl="1">
              <a:lnSpc>
                <a:spcPts val="2160"/>
              </a:lnSpc>
              <a:spcAft>
                <a:spcPts val="700"/>
              </a:spcAft>
              <a:buFont typeface="Arial"/>
              <a:buChar char="•"/>
            </a:pPr>
            <a:r>
              <a:rPr lang="en-US" sz="1800" b="1">
                <a:solidFill>
                  <a:srgbClr val="9CC4FF"/>
                </a:solidFill>
                <a:latin typeface="Calibri (MS)"/>
                <a:ea typeface="Calibri (MS)"/>
                <a:cs typeface="Calibri (MS)"/>
                <a:sym typeface="Calibri (MS)"/>
              </a:rPr>
              <a:t>Hard to copy:</a:t>
            </a: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</a:t>
            </a:r>
            <a:r>
              <a:rPr lang="en-US" sz="1800" b="1">
                <a:solidFill>
                  <a:srgbClr val="FFC857"/>
                </a:solidFill>
                <a:latin typeface="Calibri (MS)"/>
                <a:ea typeface="Calibri (MS)"/>
                <a:cs typeface="Calibri (MS)"/>
                <a:sym typeface="Calibri (MS)"/>
              </a:rPr>
              <a:t>31,978</a:t>
            </a: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Indian brand names cleaned down to ingredients and strengths, tied to about </a:t>
            </a:r>
            <a:r>
              <a:rPr lang="en-US" sz="1800" b="1">
                <a:solidFill>
                  <a:srgbClr val="FFC857"/>
                </a:solidFill>
                <a:latin typeface="Calibri (MS)"/>
                <a:ea typeface="Calibri (MS)"/>
                <a:cs typeface="Calibri (MS)"/>
                <a:sym typeface="Calibri (MS)"/>
              </a:rPr>
              <a:t>70,000</a:t>
            </a: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drug-pair interactions.</a:t>
            </a:r>
          </a:p>
          <a:p>
            <a:pPr algn="l" marL="380048" indent="-190024" lvl="1">
              <a:lnSpc>
                <a:spcPts val="2160"/>
              </a:lnSpc>
              <a:spcAft>
                <a:spcPts val="700"/>
              </a:spcAft>
              <a:buFont typeface="Arial"/>
              <a:buChar char="•"/>
            </a:pPr>
            <a:r>
              <a:rPr lang="en-US" sz="1800" b="1">
                <a:solidFill>
                  <a:srgbClr val="9CC4FF"/>
                </a:solidFill>
                <a:latin typeface="Calibri (MS)"/>
                <a:ea typeface="Calibri (MS)"/>
                <a:cs typeface="Calibri (MS)"/>
                <a:sym typeface="Calibri (MS)"/>
              </a:rPr>
              <a:t>It admits what it can't see.</a:t>
            </a: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Ingredients with no interaction data are listed, so a quiet result is never read as 'safe'.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824960" y="9669018"/>
            <a:ext cx="681228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9CC4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755880" y="1645920"/>
            <a:ext cx="4841748" cy="480060"/>
            <a:chOff x="0" y="0"/>
            <a:chExt cx="6455664" cy="640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455664" cy="640080"/>
            </a:xfrm>
            <a:custGeom>
              <a:avLst/>
              <a:gdLst/>
              <a:ahLst/>
              <a:cxnLst/>
              <a:rect r="r" b="b" t="t" l="l"/>
              <a:pathLst>
                <a:path h="640080" w="6455664">
                  <a:moveTo>
                    <a:pt x="0" y="0"/>
                  </a:moveTo>
                  <a:lnTo>
                    <a:pt x="6455664" y="0"/>
                  </a:lnTo>
                  <a:lnTo>
                    <a:pt x="645566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6520" r="0" b="-14652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455664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Plot Armor  |  U6USN474</a:t>
              </a:r>
            </a:p>
          </p:txBody>
        </p:sp>
      </p:grpSp>
      <p:sp>
        <p:nvSpPr>
          <p:cNvPr id="38" name="Rounded Rectangle 37"/>
          <p:cNvSpPr/>
          <p:nvPr/>
        </p:nvSpPr>
        <p:spPr>
          <a:xfrm>
            <a:off x="1097280" y="3401568"/>
            <a:ext cx="2057400" cy="2395728"/>
          </a:xfrm>
          <a:prstGeom prst="roundRect">
            <a:avLst>
              <a:gd name="adj" fmla="val 5333"/>
            </a:avLst>
          </a:prstGeom>
          <a:solidFill>
            <a:srgbClr val="12245E"/>
          </a:solidFill>
          <a:ln w="15875">
            <a:solidFill>
              <a:srgbClr val="1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 wrap="square"/>
          <a:lstStyle/>
          <a:p>
            <a:pPr algn="l"/>
            <a:r>
              <a:rPr sz="1400" i="0" b="1">
                <a:solidFill>
                  <a:srgbClr val="9CC4FF"/>
                </a:solidFill>
                <a:latin typeface="Calibri (MS)"/>
              </a:rPr>
              <a:t>Goes in</a:t>
            </a:r>
          </a:p>
          <a:p>
            <a:pPr algn="l"/>
            <a:r>
              <a:rPr sz="1400" i="0" b="0">
                <a:solidFill>
                  <a:srgbClr val="FFFFFF"/>
                </a:solidFill>
                <a:latin typeface="Calibri (MS)"/>
              </a:rPr>
              <a:t>The order, and past prescriptions</a:t>
            </a:r>
          </a:p>
          <a:p>
            <a:pPr algn="l"/>
            <a:r>
              <a:rPr sz="1400" i="0" b="0">
                <a:solidFill>
                  <a:srgbClr val="FFFFFF"/>
                </a:solidFill>
                <a:latin typeface="Calibri (MS)"/>
              </a:rPr>
              <a:t>Age, weight, sex</a:t>
            </a:r>
          </a:p>
          <a:p>
            <a:pPr algn="l"/>
            <a:r>
              <a:rPr sz="1400" i="0" b="0">
                <a:solidFill>
                  <a:srgbClr val="FFFFFF"/>
                </a:solidFill>
                <a:latin typeface="Calibri (MS)"/>
              </a:rPr>
              <a:t>A kidney test, if any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3218687" y="4407408"/>
            <a:ext cx="347472" cy="347472"/>
          </a:xfrm>
          <a:prstGeom prst="rightArrow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639311" y="3401568"/>
            <a:ext cx="2514600" cy="2395728"/>
          </a:xfrm>
          <a:prstGeom prst="roundRect">
            <a:avLst>
              <a:gd name="adj" fmla="val 4580"/>
            </a:avLst>
          </a:prstGeom>
          <a:solidFill>
            <a:srgbClr val="16306F"/>
          </a:solidFill>
          <a:ln w="15875">
            <a:solidFill>
              <a:srgbClr val="4D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 wrap="square"/>
          <a:lstStyle/>
          <a:p>
            <a:pPr algn="l"/>
            <a:r>
              <a:rPr sz="1400" i="0" b="1">
                <a:solidFill>
                  <a:srgbClr val="9CC4FF"/>
                </a:solidFill>
                <a:latin typeface="Calibri (MS)"/>
              </a:rPr>
              <a:t>Safety check</a:t>
            </a:r>
          </a:p>
          <a:p>
            <a:pPr algn="l"/>
            <a:r>
              <a:rPr sz="1400" i="0" b="0">
                <a:solidFill>
                  <a:srgbClr val="FFFFFF"/>
                </a:solidFill>
                <a:latin typeface="Calibri (MS)"/>
              </a:rPr>
              <a:t>Brand matcher</a:t>
            </a:r>
          </a:p>
          <a:p>
            <a:pPr algn="l"/>
            <a:r>
              <a:rPr sz="1400" i="0" b="0">
                <a:solidFill>
                  <a:srgbClr val="FFFFFF"/>
                </a:solidFill>
                <a:latin typeface="Calibri (MS)"/>
              </a:rPr>
              <a:t>Dosing reader</a:t>
            </a:r>
          </a:p>
          <a:p>
            <a:pPr algn="l"/>
            <a:r>
              <a:rPr sz="1400" i="0" b="0">
                <a:solidFill>
                  <a:srgbClr val="FFFFFF"/>
                </a:solidFill>
                <a:latin typeface="Calibri (MS)"/>
              </a:rPr>
              <a:t>Dose ledger</a:t>
            </a:r>
          </a:p>
          <a:p>
            <a:pPr algn="l"/>
            <a:r>
              <a:rPr sz="1400" i="0" b="0">
                <a:solidFill>
                  <a:srgbClr val="FFFFFF"/>
                </a:solidFill>
                <a:latin typeface="Calibri (MS)"/>
              </a:rPr>
              <a:t>Limits and rules</a:t>
            </a:r>
          </a:p>
          <a:p>
            <a:pPr algn="l"/>
            <a:r>
              <a:rPr sz="1400" i="0" b="0">
                <a:solidFill>
                  <a:srgbClr val="FFFFFF"/>
                </a:solidFill>
                <a:latin typeface="Calibri (MS)"/>
              </a:rPr>
              <a:t>Ranking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6217920" y="4407408"/>
            <a:ext cx="347472" cy="347472"/>
          </a:xfrm>
          <a:prstGeom prst="rightArrow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638544" y="3401568"/>
            <a:ext cx="1865376" cy="2395728"/>
          </a:xfrm>
          <a:prstGeom prst="roundRect">
            <a:avLst>
              <a:gd name="adj" fmla="val 5882"/>
            </a:avLst>
          </a:prstGeom>
          <a:solidFill>
            <a:srgbClr val="12245E"/>
          </a:solidFill>
          <a:ln w="15875">
            <a:solidFill>
              <a:srgbClr val="1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 wrap="square"/>
          <a:lstStyle/>
          <a:p>
            <a:pPr algn="l"/>
            <a:r>
              <a:rPr sz="1400" i="0" b="1">
                <a:solidFill>
                  <a:srgbClr val="9CC4FF"/>
                </a:solidFill>
                <a:latin typeface="Calibri (MS)"/>
              </a:rPr>
              <a:t>Comes out</a:t>
            </a:r>
          </a:p>
          <a:p>
            <a:pPr algn="l"/>
            <a:r>
              <a:rPr sz="1400" i="0" b="0">
                <a:solidFill>
                  <a:srgbClr val="FFFFFF"/>
                </a:solidFill>
                <a:latin typeface="Calibri (MS)"/>
              </a:rPr>
              <a:t>Review queue</a:t>
            </a:r>
          </a:p>
          <a:p>
            <a:pPr algn="l"/>
            <a:r>
              <a:rPr sz="1400" i="0" b="0">
                <a:solidFill>
                  <a:srgbClr val="FFFFFF"/>
                </a:solidFill>
                <a:latin typeface="Calibri (MS)"/>
              </a:rPr>
              <a:t>Prescription X-ray</a:t>
            </a:r>
          </a:p>
          <a:p>
            <a:pPr algn="l"/>
            <a:r>
              <a:rPr sz="1400" i="0" b="0">
                <a:solidFill>
                  <a:srgbClr val="FFFFFF"/>
                </a:solidFill>
                <a:latin typeface="Calibri (MS)"/>
              </a:rPr>
              <a:t>Audit log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85800" y="438912"/>
            <a:ext cx="1657741" cy="754380"/>
            <a:chOff x="0" y="0"/>
            <a:chExt cx="2210321" cy="1005840"/>
          </a:xfrm>
        </p:grpSpPr>
        <p:sp>
          <p:nvSpPr>
            <p:cNvPr name="Freeform 4" id="4" descr="logo_white.png"/>
            <p:cNvSpPr/>
            <p:nvPr/>
          </p:nvSpPr>
          <p:spPr>
            <a:xfrm flipH="false" flipV="false" rot="0">
              <a:off x="0" y="0"/>
              <a:ext cx="2210308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0308">
                  <a:moveTo>
                    <a:pt x="0" y="0"/>
                  </a:moveTo>
                  <a:lnTo>
                    <a:pt x="2210308" y="0"/>
                  </a:lnTo>
                  <a:lnTo>
                    <a:pt x="2210308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389120" y="548640"/>
            <a:ext cx="13167360" cy="548640"/>
            <a:chOff x="0" y="0"/>
            <a:chExt cx="17556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55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7556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spc="449">
                  <a:solidFill>
                    <a:srgbClr val="9CC4FF"/>
                  </a:solidFill>
                  <a:latin typeface="Arial"/>
                  <a:ea typeface="Arial"/>
                  <a:cs typeface="Arial"/>
                  <a:sym typeface="Arial"/>
                </a:rPr>
                <a:t>36-HOUR HACKATHON  |  24–25 OCTOBER 2026  |  MANIPAL UNIVERSITY JAIPUR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9532620"/>
            <a:ext cx="16911828" cy="13716"/>
            <a:chOff x="0" y="0"/>
            <a:chExt cx="22549104" cy="182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49104" cy="18288"/>
            </a:xfrm>
            <a:custGeom>
              <a:avLst/>
              <a:gdLst/>
              <a:ahLst/>
              <a:cxnLst/>
              <a:rect r="r" b="b" t="t" l="l"/>
              <a:pathLst>
                <a:path h="18288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E5BFF">
                <a:alpha val="24706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85800" y="9642348"/>
            <a:ext cx="12344400" cy="411480"/>
            <a:chOff x="0" y="0"/>
            <a:chExt cx="164592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45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Computer and Communications Engineering  •  Manipal University Jaipur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1440180"/>
            <a:ext cx="16911828" cy="1097280"/>
            <a:chOff x="0" y="0"/>
            <a:chExt cx="22549104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2549104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USER EXPERIENCE &amp; DESIGN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6275" y="2527935"/>
            <a:ext cx="5505450" cy="6671310"/>
            <a:chOff x="0" y="0"/>
            <a:chExt cx="7340600" cy="8895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40600" cy="8895080"/>
            </a:xfrm>
            <a:custGeom>
              <a:avLst/>
              <a:gdLst/>
              <a:ahLst/>
              <a:cxnLst/>
              <a:rect r="r" b="b" t="t" l="l"/>
              <a:pathLst>
                <a:path h="8895080" w="734060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7120382" y="0"/>
                  </a:lnTo>
                  <a:cubicBezTo>
                    <a:pt x="7242048" y="0"/>
                    <a:pt x="7340600" y="98552"/>
                    <a:pt x="7340600" y="220218"/>
                  </a:cubicBezTo>
                  <a:lnTo>
                    <a:pt x="7340600" y="8674862"/>
                  </a:lnTo>
                  <a:cubicBezTo>
                    <a:pt x="7340600" y="8796528"/>
                    <a:pt x="7242048" y="8895080"/>
                    <a:pt x="7120382" y="8895080"/>
                  </a:cubicBezTo>
                  <a:lnTo>
                    <a:pt x="220218" y="8895080"/>
                  </a:lnTo>
                  <a:cubicBezTo>
                    <a:pt x="98552" y="8895080"/>
                    <a:pt x="0" y="8796528"/>
                    <a:pt x="0" y="8674862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97280" y="2811780"/>
            <a:ext cx="4663440" cy="480060"/>
            <a:chOff x="0" y="0"/>
            <a:chExt cx="621792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62179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USER INTERFACE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97280" y="3381375"/>
            <a:ext cx="4663440" cy="553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520"/>
              </a:lnSpc>
              <a:spcAft>
                <a:spcPts val="1200"/>
              </a:spcAft>
              <a:buFont typeface="Arial"/>
              <a:buChar char="•"/>
            </a:pPr>
            <a:r>
              <a:rPr lang="en-US" sz="2100" b="1">
                <a:solidFill>
                  <a:srgbClr val="9CC4FF"/>
                </a:solidFill>
                <a:latin typeface="Calibri (MS)"/>
                <a:ea typeface="Calibri (MS)"/>
                <a:cs typeface="Calibri (MS)"/>
                <a:sym typeface="Calibri (MS)"/>
              </a:rPr>
              <a:t>Four screens.</a:t>
            </a: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Check, for one prescription. Review queue, for many orders with the riskiest on top. Order, with each doctor's medicines laid out by date. Data, a look-up of every limit and rule.</a:t>
            </a:r>
          </a:p>
          <a:p>
            <a:pPr algn="l" marL="380048" indent="-190024" lvl="1">
              <a:lnSpc>
                <a:spcPts val="2520"/>
              </a:lnSpc>
              <a:spcAft>
                <a:spcPts val="1200"/>
              </a:spcAft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Open an alert to see why it fired. Overriding one needs a reason, and the reason goes into a log. One tap copies a note for the prescriber or the customer.</a:t>
            </a:r>
          </a:p>
          <a:p>
            <a:pPr algn="l" marL="380048" indent="-190024" lvl="1">
              <a:lnSpc>
                <a:spcPts val="2520"/>
              </a:lnSpc>
              <a:spcAft>
                <a:spcPts val="1200"/>
              </a:spcAft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Made to be read fast. Every alert has an icon and a word, never colour alone, and the whole app works from a keyboard.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395847" y="2527935"/>
            <a:ext cx="5505450" cy="6671310"/>
            <a:chOff x="0" y="0"/>
            <a:chExt cx="7340600" cy="8895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40600" cy="8895080"/>
            </a:xfrm>
            <a:custGeom>
              <a:avLst/>
              <a:gdLst/>
              <a:ahLst/>
              <a:cxnLst/>
              <a:rect r="r" b="b" t="t" l="l"/>
              <a:pathLst>
                <a:path h="8895080" w="734060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7120382" y="0"/>
                  </a:lnTo>
                  <a:cubicBezTo>
                    <a:pt x="7242048" y="0"/>
                    <a:pt x="7340600" y="98552"/>
                    <a:pt x="7340600" y="220218"/>
                  </a:cubicBezTo>
                  <a:lnTo>
                    <a:pt x="7340600" y="8674862"/>
                  </a:lnTo>
                  <a:cubicBezTo>
                    <a:pt x="7340600" y="8796528"/>
                    <a:pt x="7242048" y="8895080"/>
                    <a:pt x="7120382" y="8895080"/>
                  </a:cubicBezTo>
                  <a:lnTo>
                    <a:pt x="220218" y="8895080"/>
                  </a:lnTo>
                  <a:cubicBezTo>
                    <a:pt x="98552" y="8895080"/>
                    <a:pt x="0" y="8796528"/>
                    <a:pt x="0" y="8674862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816852" y="2811780"/>
            <a:ext cx="4663440" cy="480060"/>
            <a:chOff x="0" y="0"/>
            <a:chExt cx="6217920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62179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USER FLOW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807327" y="3488055"/>
            <a:ext cx="773430" cy="773430"/>
            <a:chOff x="0" y="0"/>
            <a:chExt cx="1031240" cy="10312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1E5B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6816852" y="3497580"/>
            <a:ext cx="754380" cy="754380"/>
            <a:chOff x="0" y="0"/>
            <a:chExt cx="1005840" cy="1005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807327" y="5271135"/>
            <a:ext cx="773430" cy="773430"/>
            <a:chOff x="0" y="0"/>
            <a:chExt cx="1031240" cy="1031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1E5B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6816852" y="5280660"/>
            <a:ext cx="754380" cy="754380"/>
            <a:chOff x="0" y="0"/>
            <a:chExt cx="1005840" cy="1005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807327" y="7054215"/>
            <a:ext cx="773430" cy="773430"/>
            <a:chOff x="0" y="0"/>
            <a:chExt cx="1031240" cy="10312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1E5B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6816852" y="7063740"/>
            <a:ext cx="754380" cy="754380"/>
            <a:chOff x="0" y="0"/>
            <a:chExt cx="1005840" cy="1005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101703" y="2527935"/>
            <a:ext cx="5505450" cy="6671310"/>
            <a:chOff x="0" y="0"/>
            <a:chExt cx="7340600" cy="88950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340600" cy="8895080"/>
            </a:xfrm>
            <a:custGeom>
              <a:avLst/>
              <a:gdLst/>
              <a:ahLst/>
              <a:cxnLst/>
              <a:rect r="r" b="b" t="t" l="l"/>
              <a:pathLst>
                <a:path h="8895080" w="734060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7120382" y="0"/>
                  </a:lnTo>
                  <a:cubicBezTo>
                    <a:pt x="7242048" y="0"/>
                    <a:pt x="7340600" y="98552"/>
                    <a:pt x="7340600" y="220218"/>
                  </a:cubicBezTo>
                  <a:lnTo>
                    <a:pt x="7340600" y="8674862"/>
                  </a:lnTo>
                  <a:cubicBezTo>
                    <a:pt x="7340600" y="8796528"/>
                    <a:pt x="7242048" y="8895080"/>
                    <a:pt x="7120382" y="8895080"/>
                  </a:cubicBezTo>
                  <a:lnTo>
                    <a:pt x="220218" y="8895080"/>
                  </a:lnTo>
                  <a:cubicBezTo>
                    <a:pt x="98552" y="8895080"/>
                    <a:pt x="0" y="8796528"/>
                    <a:pt x="0" y="8674862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2522708" y="2811780"/>
            <a:ext cx="4663440" cy="480060"/>
            <a:chOff x="0" y="0"/>
            <a:chExt cx="6217920" cy="6400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62179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DESIGN GOAL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2522708" y="3381375"/>
            <a:ext cx="4663440" cy="224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Aft>
                <a:spcPts val="120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 a few seconds the pharmacist sees whether to act, why, and where the warning comes from.</a:t>
            </a:r>
          </a:p>
          <a:p>
            <a:pPr algn="l">
              <a:lnSpc>
                <a:spcPts val="2520"/>
              </a:lnSpc>
              <a:spcAft>
                <a:spcPts val="1200"/>
              </a:spcAft>
              <a:buNone/>
            </a:pPr>
            <a:r>
              <a:rPr lang="en-US" sz="2100" b="1">
                <a:solidFill>
                  <a:srgbClr val="9CC4FF"/>
                </a:solidFill>
                <a:latin typeface="Calibri (MS)"/>
                <a:ea typeface="Calibri (MS)"/>
                <a:cs typeface="Calibri (MS)"/>
                <a:sym typeface="Calibri (MS)"/>
              </a:rPr>
              <a:t>Parchi informs. The pharmacist decides.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6824960" y="9669018"/>
            <a:ext cx="681228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9CC4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2755880" y="1645920"/>
            <a:ext cx="4841748" cy="480060"/>
            <a:chOff x="0" y="0"/>
            <a:chExt cx="6455664" cy="6400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455664" cy="640080"/>
            </a:xfrm>
            <a:custGeom>
              <a:avLst/>
              <a:gdLst/>
              <a:ahLst/>
              <a:cxnLst/>
              <a:rect r="r" b="b" t="t" l="l"/>
              <a:pathLst>
                <a:path h="640080" w="6455664">
                  <a:moveTo>
                    <a:pt x="0" y="0"/>
                  </a:moveTo>
                  <a:lnTo>
                    <a:pt x="6455664" y="0"/>
                  </a:lnTo>
                  <a:lnTo>
                    <a:pt x="645566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6520" r="0" b="-14652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6455664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Plot Armor  |  U6USN474</a:t>
              </a:r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7818120" y="3401568"/>
            <a:ext cx="388620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i="0" b="0">
                <a:solidFill>
                  <a:srgbClr val="FFFFFF"/>
                </a:solidFill>
                <a:latin typeface="Calibri (MS)"/>
              </a:rPr>
              <a:t>An order lands in the queue. The pharmacist opens the top one and sees every doctor's medicines on one timeline.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18120" y="5184648"/>
            <a:ext cx="388620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i="0" b="0">
                <a:solidFill>
                  <a:srgbClr val="FFFFFF"/>
                </a:solidFill>
                <a:latin typeface="Calibri (MS)"/>
              </a:rPr>
              <a:t>Parchi adds up what overlaps and re-checks when a new kidney result arrives. Brands it doesn't know are marked unverified and left out of the totals.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18120" y="6967728"/>
            <a:ext cx="388620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i="0" b="0">
                <a:solidFill>
                  <a:srgbClr val="FFFFFF"/>
                </a:solidFill>
                <a:latin typeface="Calibri (MS)"/>
              </a:rPr>
              <a:t>The pharmacist holds or releases the order, and adds a short note if needed.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2490704" y="6272784"/>
            <a:ext cx="4736592" cy="2542032"/>
          </a:xfrm>
          <a:prstGeom prst="roundRect">
            <a:avLst>
              <a:gd name="adj" fmla="val 3597"/>
            </a:avLst>
          </a:prstGeom>
          <a:solidFill>
            <a:srgbClr val="0F1E52"/>
          </a:solidFill>
          <a:ln w="15875">
            <a:solidFill>
              <a:srgbClr val="1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 wrap="square"/>
          <a:lstStyle/>
          <a:p>
            <a:pPr algn="ctr"/>
          </a:p>
        </p:txBody>
      </p:sp>
      <p:pic>
        <p:nvPicPr>
          <p:cNvPr id="68" name="Picture 67" descr="crop_time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27280" y="6309360"/>
            <a:ext cx="4663440" cy="246888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2527280" y="88696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i="1" b="0">
                <a:solidFill>
                  <a:srgbClr val="9CC4FF"/>
                </a:solidFill>
                <a:latin typeface="Calibri (MS)"/>
              </a:rPr>
              <a:t>A real screen from the running app.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85800" y="438912"/>
            <a:ext cx="1657741" cy="754380"/>
            <a:chOff x="0" y="0"/>
            <a:chExt cx="2210321" cy="1005840"/>
          </a:xfrm>
        </p:grpSpPr>
        <p:sp>
          <p:nvSpPr>
            <p:cNvPr name="Freeform 4" id="4" descr="logo_white.png"/>
            <p:cNvSpPr/>
            <p:nvPr/>
          </p:nvSpPr>
          <p:spPr>
            <a:xfrm flipH="false" flipV="false" rot="0">
              <a:off x="0" y="0"/>
              <a:ext cx="2210308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0308">
                  <a:moveTo>
                    <a:pt x="0" y="0"/>
                  </a:moveTo>
                  <a:lnTo>
                    <a:pt x="2210308" y="0"/>
                  </a:lnTo>
                  <a:lnTo>
                    <a:pt x="2210308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389120" y="548640"/>
            <a:ext cx="13167360" cy="548640"/>
            <a:chOff x="0" y="0"/>
            <a:chExt cx="17556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55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7556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spc="449">
                  <a:solidFill>
                    <a:srgbClr val="9CC4FF"/>
                  </a:solidFill>
                  <a:latin typeface="Arial"/>
                  <a:ea typeface="Arial"/>
                  <a:cs typeface="Arial"/>
                  <a:sym typeface="Arial"/>
                </a:rPr>
                <a:t>36-HOUR HACKATHON  |  24–25 OCTOBER 2026  |  MANIPAL UNIVERSITY JAIPUR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9532620"/>
            <a:ext cx="16911828" cy="13716"/>
            <a:chOff x="0" y="0"/>
            <a:chExt cx="22549104" cy="182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49104" cy="18288"/>
            </a:xfrm>
            <a:custGeom>
              <a:avLst/>
              <a:gdLst/>
              <a:ahLst/>
              <a:cxnLst/>
              <a:rect r="r" b="b" t="t" l="l"/>
              <a:pathLst>
                <a:path h="18288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E5BFF">
                <a:alpha val="24706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85800" y="9642348"/>
            <a:ext cx="12344400" cy="411480"/>
            <a:chOff x="0" y="0"/>
            <a:chExt cx="164592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45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Computer and Communications Engineering  •  Manipal University Jaipur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1440180"/>
            <a:ext cx="16911828" cy="1097280"/>
            <a:chOff x="0" y="0"/>
            <a:chExt cx="22549104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2549104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FEASIBILITY AND VIABILITY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6275" y="2527935"/>
            <a:ext cx="5505450" cy="6671310"/>
            <a:chOff x="0" y="0"/>
            <a:chExt cx="7340600" cy="8895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40600" cy="8895080"/>
            </a:xfrm>
            <a:custGeom>
              <a:avLst/>
              <a:gdLst/>
              <a:ahLst/>
              <a:cxnLst/>
              <a:rect r="r" b="b" t="t" l="l"/>
              <a:pathLst>
                <a:path h="8895080" w="734060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7120382" y="0"/>
                  </a:lnTo>
                  <a:cubicBezTo>
                    <a:pt x="7242048" y="0"/>
                    <a:pt x="7340600" y="98552"/>
                    <a:pt x="7340600" y="220218"/>
                  </a:cubicBezTo>
                  <a:lnTo>
                    <a:pt x="7340600" y="8674862"/>
                  </a:lnTo>
                  <a:cubicBezTo>
                    <a:pt x="7340600" y="8796528"/>
                    <a:pt x="7242048" y="8895080"/>
                    <a:pt x="7120382" y="8895080"/>
                  </a:cubicBezTo>
                  <a:lnTo>
                    <a:pt x="220218" y="8895080"/>
                  </a:lnTo>
                  <a:cubicBezTo>
                    <a:pt x="98552" y="8895080"/>
                    <a:pt x="0" y="8796528"/>
                    <a:pt x="0" y="8674862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97280" y="2811780"/>
            <a:ext cx="4663440" cy="480060"/>
            <a:chOff x="0" y="0"/>
            <a:chExt cx="621792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62179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TECHNICAL FEASIBILITY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97280" y="3518535"/>
            <a:ext cx="4663440" cy="525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040"/>
              </a:lnSpc>
              <a:spcAft>
                <a:spcPts val="800"/>
              </a:spcAft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It's built, not a mock-up. </a:t>
            </a:r>
            <a:r>
              <a:rPr lang="en-US" sz="1700" b="1">
                <a:solidFill>
                  <a:srgbClr val="FFC857"/>
                </a:solidFill>
                <a:latin typeface="Calibri (MS)"/>
                <a:ea typeface="Calibri (MS)"/>
                <a:cs typeface="Calibri (MS)"/>
                <a:sym typeface="Calibri (MS)"/>
              </a:rPr>
              <a:t>1,137</a:t>
            </a:r>
            <a:r>
              <a:rPr lang="en-US" sz="1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automated tests pass.</a:t>
            </a:r>
          </a:p>
          <a:p>
            <a:pPr algn="l" marL="380048" indent="-190024" lvl="1">
              <a:lnSpc>
                <a:spcPts val="2040"/>
              </a:lnSpc>
              <a:spcAft>
                <a:spcPts val="800"/>
              </a:spcAft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We tested it against outside lists, not only our own. A US expert panel named 16 drug pairs that must always alert, and we missed most of them. So we fixed it. The doses we could compare also match India's national formulary.</a:t>
            </a:r>
          </a:p>
          <a:p>
            <a:pPr algn="l" marL="380048" indent="-190024" lvl="1">
              <a:lnSpc>
                <a:spcPts val="2040"/>
              </a:lnSpc>
              <a:spcAft>
                <a:spcPts val="800"/>
              </a:spcAft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 check takes under 3 milliseconds on a laptop, and each part can be swapped without touching the rest.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395847" y="2527935"/>
            <a:ext cx="5505450" cy="6671310"/>
            <a:chOff x="0" y="0"/>
            <a:chExt cx="7340600" cy="8895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40600" cy="8895080"/>
            </a:xfrm>
            <a:custGeom>
              <a:avLst/>
              <a:gdLst/>
              <a:ahLst/>
              <a:cxnLst/>
              <a:rect r="r" b="b" t="t" l="l"/>
              <a:pathLst>
                <a:path h="8895080" w="734060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7120382" y="0"/>
                  </a:lnTo>
                  <a:cubicBezTo>
                    <a:pt x="7242048" y="0"/>
                    <a:pt x="7340600" y="98552"/>
                    <a:pt x="7340600" y="220218"/>
                  </a:cubicBezTo>
                  <a:lnTo>
                    <a:pt x="7340600" y="8674862"/>
                  </a:lnTo>
                  <a:cubicBezTo>
                    <a:pt x="7340600" y="8796528"/>
                    <a:pt x="7242048" y="8895080"/>
                    <a:pt x="7120382" y="8895080"/>
                  </a:cubicBezTo>
                  <a:lnTo>
                    <a:pt x="220218" y="8895080"/>
                  </a:lnTo>
                  <a:cubicBezTo>
                    <a:pt x="98552" y="8895080"/>
                    <a:pt x="0" y="8796528"/>
                    <a:pt x="0" y="8674862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816852" y="2811780"/>
            <a:ext cx="4663440" cy="480060"/>
            <a:chOff x="0" y="0"/>
            <a:chExt cx="6217920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62179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ECONOMIC FEASIBILITY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816852" y="3518535"/>
            <a:ext cx="4663440" cy="525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400"/>
              </a:lnSpc>
              <a:spcAft>
                <a:spcPts val="1200"/>
              </a:spcAft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Almost free to run. It is built on open tools, and a check runs on the pharmacist's own device.</a:t>
            </a:r>
          </a:p>
          <a:p>
            <a:pPr algn="l" marL="380048" indent="-190024" lvl="1">
              <a:lnSpc>
                <a:spcPts val="2400"/>
              </a:lnSpc>
              <a:spcAft>
                <a:spcPts val="1200"/>
              </a:spcAft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Cost grows slowly for the same reason. The one real cost is data: our interaction database is free only for non-commercial use, so a paid product needs a licensed one.</a:t>
            </a:r>
          </a:p>
          <a:p>
            <a:pPr algn="l" marL="380048" indent="-190024" lvl="1">
              <a:lnSpc>
                <a:spcPts val="2400"/>
              </a:lnSpc>
              <a:spcAft>
                <a:spcPts val="1200"/>
              </a:spcAft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No outside funding is needed to start. Revenue comes from the buyers on slide 7.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115419" y="2527935"/>
            <a:ext cx="5505450" cy="6671310"/>
            <a:chOff x="0" y="0"/>
            <a:chExt cx="7340600" cy="8895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40600" cy="8895080"/>
            </a:xfrm>
            <a:custGeom>
              <a:avLst/>
              <a:gdLst/>
              <a:ahLst/>
              <a:cxnLst/>
              <a:rect r="r" b="b" t="t" l="l"/>
              <a:pathLst>
                <a:path h="8895080" w="734060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7120382" y="0"/>
                  </a:lnTo>
                  <a:cubicBezTo>
                    <a:pt x="7242048" y="0"/>
                    <a:pt x="7340600" y="98552"/>
                    <a:pt x="7340600" y="220218"/>
                  </a:cubicBezTo>
                  <a:lnTo>
                    <a:pt x="7340600" y="8674862"/>
                  </a:lnTo>
                  <a:cubicBezTo>
                    <a:pt x="7340600" y="8796528"/>
                    <a:pt x="7242048" y="8895080"/>
                    <a:pt x="7120382" y="8895080"/>
                  </a:cubicBezTo>
                  <a:lnTo>
                    <a:pt x="220218" y="8895080"/>
                  </a:lnTo>
                  <a:cubicBezTo>
                    <a:pt x="98552" y="8895080"/>
                    <a:pt x="0" y="8796528"/>
                    <a:pt x="0" y="8674862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536424" y="2811780"/>
            <a:ext cx="4663440" cy="480060"/>
            <a:chOff x="0" y="0"/>
            <a:chExt cx="6217920" cy="640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62179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OPERATIONAL VIABILITY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536424" y="3518535"/>
            <a:ext cx="4663440" cy="525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1920"/>
              </a:lnSpc>
              <a:spcAft>
                <a:spcPts val="800"/>
              </a:spcAft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It runs in a browser and works offline after the first load, which suits counters with patchy internet. An API connects it to an e-pharmacy's own review desk.</a:t>
            </a:r>
          </a:p>
          <a:p>
            <a:pPr algn="l" marL="380048" indent="-190024" lvl="1">
              <a:lnSpc>
                <a:spcPts val="1920"/>
              </a:lnSpc>
              <a:spcAft>
                <a:spcPts val="800"/>
              </a:spcAft>
              <a:buFont typeface="Arial"/>
              <a:buChar char="•"/>
            </a:pPr>
            <a:r>
              <a:rPr lang="en-US" sz="1600" b="1">
                <a:solidFill>
                  <a:srgbClr val="9CC4FF"/>
                </a:solidFill>
                <a:latin typeface="Calibri (MS)"/>
                <a:ea typeface="Calibri (MS)"/>
                <a:cs typeface="Calibri (MS)"/>
                <a:sym typeface="Calibri (MS)"/>
              </a:rPr>
              <a:t>Risk: it sounds like dose advice.</a:t>
            </a:r>
            <a:r>
              <a:rPr lang="en-US" sz="1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Every alert ends 'pharmacist to review', and a test blocks any wording that names a dose. India's 2026 software rules put inform-only tools in the lowest-risk group.</a:t>
            </a:r>
          </a:p>
          <a:p>
            <a:pPr algn="l" marL="380048" indent="-190024" lvl="1">
              <a:lnSpc>
                <a:spcPts val="1920"/>
              </a:lnSpc>
              <a:spcAft>
                <a:spcPts val="800"/>
              </a:spcAft>
              <a:buFont typeface="Arial"/>
              <a:buChar char="•"/>
            </a:pPr>
            <a:r>
              <a:rPr lang="en-US" sz="1600" b="1">
                <a:solidFill>
                  <a:srgbClr val="9CC4FF"/>
                </a:solidFill>
                <a:latin typeface="Calibri (MS)"/>
                <a:ea typeface="Calibri (MS)"/>
                <a:cs typeface="Calibri (MS)"/>
                <a:sym typeface="Calibri (MS)"/>
              </a:rPr>
              <a:t>Risk: a wrong number hurts someone.</a:t>
            </a:r>
            <a:r>
              <a:rPr lang="en-US" sz="1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Every limit stays marked 'not approved' until a pharmacist signs it. None has yet.</a:t>
            </a:r>
          </a:p>
          <a:p>
            <a:pPr algn="l" marL="380048" indent="-190024" lvl="1">
              <a:lnSpc>
                <a:spcPts val="1920"/>
              </a:lnSpc>
              <a:spcAft>
                <a:spcPts val="800"/>
              </a:spcAft>
              <a:buFont typeface="Arial"/>
              <a:buChar char="•"/>
            </a:pPr>
            <a:r>
              <a:rPr lang="en-US" sz="1600" b="1">
                <a:solidFill>
                  <a:srgbClr val="9CC4FF"/>
                </a:solidFill>
                <a:latin typeface="Calibri (MS)"/>
                <a:ea typeface="Calibri (MS)"/>
                <a:cs typeface="Calibri (MS)"/>
                <a:sym typeface="Calibri (MS)"/>
              </a:rPr>
              <a:t>Risk: patient privacy.</a:t>
            </a:r>
            <a:r>
              <a:rPr lang="en-US" sz="1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We store nothing. The DPDP Act fines go up to ₹250 crore.</a:t>
            </a:r>
          </a:p>
          <a:p>
            <a:pPr algn="l" marL="380048" indent="-190024" lvl="1">
              <a:lnSpc>
                <a:spcPts val="1920"/>
              </a:lnSpc>
              <a:spcAft>
                <a:spcPts val="800"/>
              </a:spcAft>
              <a:buFont typeface="Arial"/>
              <a:buChar char="•"/>
            </a:pPr>
            <a:r>
              <a:rPr lang="en-US" sz="1600" b="1">
                <a:solidFill>
                  <a:srgbClr val="9CC4FF"/>
                </a:solidFill>
                <a:latin typeface="Calibri (MS)"/>
                <a:ea typeface="Calibri (MS)"/>
                <a:cs typeface="Calibri (MS)"/>
                <a:sym typeface="Calibri (MS)"/>
              </a:rPr>
              <a:t>Risk: more typing for a busy pharmacist.</a:t>
            </a:r>
            <a:r>
              <a:rPr lang="en-US" sz="1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It reads the order data the buyer already has (CSV or FHIR).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824960" y="9669018"/>
            <a:ext cx="681228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9CC4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755880" y="1645920"/>
            <a:ext cx="4841748" cy="480060"/>
            <a:chOff x="0" y="0"/>
            <a:chExt cx="6455664" cy="640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455664" cy="640080"/>
            </a:xfrm>
            <a:custGeom>
              <a:avLst/>
              <a:gdLst/>
              <a:ahLst/>
              <a:cxnLst/>
              <a:rect r="r" b="b" t="t" l="l"/>
              <a:pathLst>
                <a:path h="640080" w="6455664">
                  <a:moveTo>
                    <a:pt x="0" y="0"/>
                  </a:moveTo>
                  <a:lnTo>
                    <a:pt x="6455664" y="0"/>
                  </a:lnTo>
                  <a:lnTo>
                    <a:pt x="645566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6520" r="0" b="-14652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455664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Plot Armor  |  U6USN474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1097280" y="7452360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i="0" b="1">
                <a:solidFill>
                  <a:srgbClr val="FFC857"/>
                </a:solidFill>
                <a:latin typeface="Calibri (MS)"/>
              </a:rPr>
              <a:t>3 → 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822960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i="0" b="0">
                <a:solidFill>
                  <a:srgbClr val="9CC4FF"/>
                </a:solidFill>
                <a:latin typeface="Calibri (MS)"/>
              </a:rPr>
              <a:t>of the 16 must-alert drug pairs now stop the pharmacist (3 are notes on purpose)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85800" y="438912"/>
            <a:ext cx="1657741" cy="754380"/>
            <a:chOff x="0" y="0"/>
            <a:chExt cx="2210321" cy="1005840"/>
          </a:xfrm>
        </p:grpSpPr>
        <p:sp>
          <p:nvSpPr>
            <p:cNvPr name="Freeform 4" id="4" descr="logo_white.png"/>
            <p:cNvSpPr/>
            <p:nvPr/>
          </p:nvSpPr>
          <p:spPr>
            <a:xfrm flipH="false" flipV="false" rot="0">
              <a:off x="0" y="0"/>
              <a:ext cx="2210308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0308">
                  <a:moveTo>
                    <a:pt x="0" y="0"/>
                  </a:moveTo>
                  <a:lnTo>
                    <a:pt x="2210308" y="0"/>
                  </a:lnTo>
                  <a:lnTo>
                    <a:pt x="2210308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389120" y="548640"/>
            <a:ext cx="13167360" cy="548640"/>
            <a:chOff x="0" y="0"/>
            <a:chExt cx="17556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55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7556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spc="449">
                  <a:solidFill>
                    <a:srgbClr val="9CC4FF"/>
                  </a:solidFill>
                  <a:latin typeface="Arial"/>
                  <a:ea typeface="Arial"/>
                  <a:cs typeface="Arial"/>
                  <a:sym typeface="Arial"/>
                </a:rPr>
                <a:t>36-HOUR HACKATHON  |  24–25 OCTOBER 2026  |  MANIPAL UNIVERSITY JAIPUR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9532620"/>
            <a:ext cx="16911828" cy="13716"/>
            <a:chOff x="0" y="0"/>
            <a:chExt cx="22549104" cy="182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49104" cy="18288"/>
            </a:xfrm>
            <a:custGeom>
              <a:avLst/>
              <a:gdLst/>
              <a:ahLst/>
              <a:cxnLst/>
              <a:rect r="r" b="b" t="t" l="l"/>
              <a:pathLst>
                <a:path h="18288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E5BFF">
                <a:alpha val="24706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85800" y="9642348"/>
            <a:ext cx="12344400" cy="411480"/>
            <a:chOff x="0" y="0"/>
            <a:chExt cx="164592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45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Computer and Communications Engineering  •  Manipal University Jaipur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1440180"/>
            <a:ext cx="16911828" cy="1097280"/>
            <a:chOff x="0" y="0"/>
            <a:chExt cx="22549104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2549104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IMPACT AND BENEFITS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6275" y="2527935"/>
            <a:ext cx="8248650" cy="3173730"/>
            <a:chOff x="0" y="0"/>
            <a:chExt cx="10998200" cy="4231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98200" cy="4231640"/>
            </a:xfrm>
            <a:custGeom>
              <a:avLst/>
              <a:gdLst/>
              <a:ahLst/>
              <a:cxnLst/>
              <a:rect r="r" b="b" t="t" l="l"/>
              <a:pathLst>
                <a:path h="4231640" w="1099820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10777474" y="0"/>
                  </a:lnTo>
                  <a:cubicBezTo>
                    <a:pt x="10899394" y="0"/>
                    <a:pt x="10998200" y="98806"/>
                    <a:pt x="10998200" y="220726"/>
                  </a:cubicBezTo>
                  <a:lnTo>
                    <a:pt x="10998200" y="4010914"/>
                  </a:lnTo>
                  <a:cubicBezTo>
                    <a:pt x="10998200" y="4132834"/>
                    <a:pt x="10899394" y="4231640"/>
                    <a:pt x="10777474" y="4231640"/>
                  </a:cubicBezTo>
                  <a:lnTo>
                    <a:pt x="220726" y="4231640"/>
                  </a:lnTo>
                  <a:cubicBezTo>
                    <a:pt x="98806" y="4231640"/>
                    <a:pt x="0" y="4132834"/>
                    <a:pt x="0" y="4010914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87755" y="2939415"/>
            <a:ext cx="842010" cy="842010"/>
            <a:chOff x="0" y="0"/>
            <a:chExt cx="1122680" cy="11226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1E5B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97280" y="2948940"/>
            <a:ext cx="822960" cy="822960"/>
            <a:chOff x="0" y="0"/>
            <a:chExt cx="109728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0972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331720" y="3086100"/>
            <a:ext cx="6172200" cy="480060"/>
            <a:chOff x="0" y="0"/>
            <a:chExt cx="8229600" cy="640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640080"/>
            </a:xfrm>
            <a:custGeom>
              <a:avLst/>
              <a:gdLst/>
              <a:ahLst/>
              <a:cxnLst/>
              <a:rect r="r" b="b" t="t" l="l"/>
              <a:pathLst>
                <a:path h="6400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82296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SOCIAL IMPACT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331720" y="3724275"/>
            <a:ext cx="617220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1920"/>
              </a:lnSpc>
              <a:spcAft>
                <a:spcPts val="500"/>
              </a:spcAft>
              <a:buFont typeface="Arial"/>
              <a:buChar char="•"/>
            </a:pPr>
            <a:r>
              <a:rPr lang="en-US" sz="1600" b="1">
                <a:solidFill>
                  <a:srgbClr val="9CC4FF"/>
                </a:solidFill>
                <a:latin typeface="Calibri (MS)"/>
                <a:ea typeface="Calibri (MS)"/>
                <a:cs typeface="Calibri (MS)"/>
                <a:sym typeface="Calibri (MS)"/>
              </a:rPr>
              <a:t>Safer for those most at risk.</a:t>
            </a:r>
            <a:r>
              <a:rPr lang="en-US" sz="1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</a:t>
            </a:r>
            <a:r>
              <a:rPr lang="en-US" sz="1600" b="1">
                <a:solidFill>
                  <a:srgbClr val="FFC857"/>
                </a:solidFill>
                <a:latin typeface="Calibri (MS)"/>
                <a:ea typeface="Calibri (MS)"/>
                <a:cs typeface="Calibri (MS)"/>
                <a:sym typeface="Calibri (MS)"/>
              </a:rPr>
              <a:t>28% of older Indians</a:t>
            </a:r>
            <a:r>
              <a:rPr lang="en-US" sz="1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take medicines doctors advise against at their age, and </a:t>
            </a:r>
            <a:r>
              <a:rPr lang="en-US" sz="1600" b="1">
                <a:solidFill>
                  <a:srgbClr val="FFC857"/>
                </a:solidFill>
                <a:latin typeface="Calibri (MS)"/>
                <a:ea typeface="Calibri (MS)"/>
                <a:cs typeface="Calibri (MS)"/>
                <a:sym typeface="Calibri (MS)"/>
              </a:rPr>
              <a:t>53.6%</a:t>
            </a:r>
            <a:r>
              <a:rPr lang="en-US" sz="1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of Indians treat themselves. A check at the counter catches what no single doctor sees.</a:t>
            </a:r>
          </a:p>
          <a:p>
            <a:pPr algn="l" marL="380048" indent="-190024" lvl="1">
              <a:lnSpc>
                <a:spcPts val="1920"/>
              </a:lnSpc>
              <a:spcAft>
                <a:spcPts val="500"/>
              </a:spcAft>
              <a:buFont typeface="Arial"/>
              <a:buChar char="•"/>
            </a:pPr>
            <a:r>
              <a:rPr lang="en-US" sz="1600" b="1">
                <a:solidFill>
                  <a:srgbClr val="9CC4FF"/>
                </a:solidFill>
                <a:latin typeface="Calibri (MS)"/>
                <a:ea typeface="Calibri (MS)"/>
                <a:cs typeface="Calibri (MS)"/>
                <a:sym typeface="Calibri (MS)"/>
              </a:rPr>
              <a:t>A second pair of eyes</a:t>
            </a:r>
            <a:r>
              <a:rPr lang="en-US" sz="1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for pharmacists, one that doesn't get tired at the end of a long queue.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139047" y="2527935"/>
            <a:ext cx="8248650" cy="3173730"/>
            <a:chOff x="0" y="0"/>
            <a:chExt cx="10998200" cy="4231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98200" cy="4231640"/>
            </a:xfrm>
            <a:custGeom>
              <a:avLst/>
              <a:gdLst/>
              <a:ahLst/>
              <a:cxnLst/>
              <a:rect r="r" b="b" t="t" l="l"/>
              <a:pathLst>
                <a:path h="4231640" w="1099820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10777474" y="0"/>
                  </a:lnTo>
                  <a:cubicBezTo>
                    <a:pt x="10899394" y="0"/>
                    <a:pt x="10998200" y="98806"/>
                    <a:pt x="10998200" y="220726"/>
                  </a:cubicBezTo>
                  <a:lnTo>
                    <a:pt x="10998200" y="4010914"/>
                  </a:lnTo>
                  <a:cubicBezTo>
                    <a:pt x="10998200" y="4132834"/>
                    <a:pt x="10899394" y="4231640"/>
                    <a:pt x="10777474" y="4231640"/>
                  </a:cubicBezTo>
                  <a:lnTo>
                    <a:pt x="220726" y="4231640"/>
                  </a:lnTo>
                  <a:cubicBezTo>
                    <a:pt x="98806" y="4231640"/>
                    <a:pt x="0" y="4132834"/>
                    <a:pt x="0" y="4010914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50527" y="2939415"/>
            <a:ext cx="842010" cy="842010"/>
            <a:chOff x="0" y="0"/>
            <a:chExt cx="1122680" cy="1122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1E5B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560052" y="2948940"/>
            <a:ext cx="822960" cy="822960"/>
            <a:chOff x="0" y="0"/>
            <a:chExt cx="1097280" cy="1097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0972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794492" y="3086100"/>
            <a:ext cx="6172200" cy="480060"/>
            <a:chOff x="0" y="0"/>
            <a:chExt cx="8229600" cy="640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229600" cy="640080"/>
            </a:xfrm>
            <a:custGeom>
              <a:avLst/>
              <a:gdLst/>
              <a:ahLst/>
              <a:cxnLst/>
              <a:rect r="r" b="b" t="t" l="l"/>
              <a:pathLst>
                <a:path h="6400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82296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ENVIRONMENTAL IMPACT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794492" y="3724275"/>
            <a:ext cx="617220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040"/>
              </a:lnSpc>
              <a:spcAft>
                <a:spcPts val="500"/>
              </a:spcAft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 duplicate caught early is a strip that isn't sold, taken or thrown away.</a:t>
            </a:r>
          </a:p>
          <a:p>
            <a:pPr algn="l" marL="380048" indent="-190024" lvl="1">
              <a:lnSpc>
                <a:spcPts val="2040"/>
              </a:lnSpc>
              <a:spcAft>
                <a:spcPts val="500"/>
              </a:spcAft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The whole app is about 3 MB, downloaded once.</a:t>
            </a:r>
          </a:p>
          <a:p>
            <a:pPr algn="l" marL="380048" indent="-190024" lvl="1">
              <a:lnSpc>
                <a:spcPts val="2040"/>
              </a:lnSpc>
              <a:spcAft>
                <a:spcPts val="500"/>
              </a:spcAft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We haven't measured any of this. It is a likely benefit, not a result.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676275" y="5956935"/>
            <a:ext cx="8248650" cy="3173730"/>
            <a:chOff x="0" y="0"/>
            <a:chExt cx="10998200" cy="4231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98200" cy="4231640"/>
            </a:xfrm>
            <a:custGeom>
              <a:avLst/>
              <a:gdLst/>
              <a:ahLst/>
              <a:cxnLst/>
              <a:rect r="r" b="b" t="t" l="l"/>
              <a:pathLst>
                <a:path h="4231640" w="1099820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10777474" y="0"/>
                  </a:lnTo>
                  <a:cubicBezTo>
                    <a:pt x="10899394" y="0"/>
                    <a:pt x="10998200" y="98806"/>
                    <a:pt x="10998200" y="220726"/>
                  </a:cubicBezTo>
                  <a:lnTo>
                    <a:pt x="10998200" y="4010914"/>
                  </a:lnTo>
                  <a:cubicBezTo>
                    <a:pt x="10998200" y="4132834"/>
                    <a:pt x="10899394" y="4231640"/>
                    <a:pt x="10777474" y="4231640"/>
                  </a:cubicBezTo>
                  <a:lnTo>
                    <a:pt x="220726" y="4231640"/>
                  </a:lnTo>
                  <a:cubicBezTo>
                    <a:pt x="98806" y="4231640"/>
                    <a:pt x="0" y="4132834"/>
                    <a:pt x="0" y="4010914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87755" y="6368415"/>
            <a:ext cx="842010" cy="842010"/>
            <a:chOff x="0" y="0"/>
            <a:chExt cx="1122680" cy="11226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1E5B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97280" y="6377940"/>
            <a:ext cx="822960" cy="822960"/>
            <a:chOff x="0" y="0"/>
            <a:chExt cx="1097280" cy="10972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10972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331720" y="6515100"/>
            <a:ext cx="6172200" cy="480060"/>
            <a:chOff x="0" y="0"/>
            <a:chExt cx="8229600" cy="6400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229600" cy="640080"/>
            </a:xfrm>
            <a:custGeom>
              <a:avLst/>
              <a:gdLst/>
              <a:ahLst/>
              <a:cxnLst/>
              <a:rect r="r" b="b" t="t" l="l"/>
              <a:pathLst>
                <a:path h="6400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82296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TECHNICAL IMPACT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2331720" y="7153275"/>
            <a:ext cx="617220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1920"/>
              </a:lnSpc>
              <a:spcAft>
                <a:spcPts val="500"/>
              </a:spcAft>
              <a:buFont typeface="Arial"/>
              <a:buChar char="•"/>
            </a:pPr>
            <a:r>
              <a:rPr lang="en-US" sz="1600" b="1">
                <a:solidFill>
                  <a:srgbClr val="9CC4FF"/>
                </a:solidFill>
                <a:latin typeface="Calibri (MS)"/>
                <a:ea typeface="Calibri (MS)"/>
                <a:cs typeface="Calibri (MS)"/>
                <a:sym typeface="Calibri (MS)"/>
              </a:rPr>
              <a:t>A fair way to test a safety tool.</a:t>
            </a:r>
            <a:r>
              <a:rPr lang="en-US" sz="1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Every test says who wrote its answer: a published source, or us. Ours are never called proof.</a:t>
            </a:r>
          </a:p>
          <a:p>
            <a:pPr algn="l" marL="380048" indent="-190024" lvl="1">
              <a:lnSpc>
                <a:spcPts val="1920"/>
              </a:lnSpc>
              <a:spcAft>
                <a:spcPts val="500"/>
              </a:spcAft>
              <a:buFont typeface="Arial"/>
              <a:buChar char="•"/>
            </a:pPr>
            <a:r>
              <a:rPr lang="en-US" sz="1600" b="1">
                <a:solidFill>
                  <a:srgbClr val="9CC4FF"/>
                </a:solidFill>
                <a:latin typeface="Calibri (MS)"/>
                <a:ea typeface="Calibri (MS)"/>
                <a:cs typeface="Calibri (MS)"/>
                <a:sym typeface="Calibri (MS)"/>
              </a:rPr>
              <a:t>85 realistic Indian prescriptions</a:t>
            </a:r>
            <a:r>
              <a:rPr lang="en-US" sz="1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(ours), plus a list of our own gaps, such as </a:t>
            </a:r>
            <a:r>
              <a:rPr lang="en-US" sz="1600" b="1">
                <a:solidFill>
                  <a:srgbClr val="FFC857"/>
                </a:solidFill>
                <a:latin typeface="Calibri (MS)"/>
                <a:ea typeface="Calibri (MS)"/>
                <a:cs typeface="Calibri (MS)"/>
                <a:sym typeface="Calibri (MS)"/>
              </a:rPr>
              <a:t>480 brands</a:t>
            </a:r>
            <a:r>
              <a:rPr lang="en-US" sz="1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where a second listing shows an ingredient our data lacks.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9139047" y="5956935"/>
            <a:ext cx="8248650" cy="3173730"/>
            <a:chOff x="0" y="0"/>
            <a:chExt cx="10998200" cy="4231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998200" cy="4231640"/>
            </a:xfrm>
            <a:custGeom>
              <a:avLst/>
              <a:gdLst/>
              <a:ahLst/>
              <a:cxnLst/>
              <a:rect r="r" b="b" t="t" l="l"/>
              <a:pathLst>
                <a:path h="4231640" w="1099820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10777474" y="0"/>
                  </a:lnTo>
                  <a:cubicBezTo>
                    <a:pt x="10899394" y="0"/>
                    <a:pt x="10998200" y="98806"/>
                    <a:pt x="10998200" y="220726"/>
                  </a:cubicBezTo>
                  <a:lnTo>
                    <a:pt x="10998200" y="4010914"/>
                  </a:lnTo>
                  <a:cubicBezTo>
                    <a:pt x="10998200" y="4132834"/>
                    <a:pt x="10899394" y="4231640"/>
                    <a:pt x="10777474" y="4231640"/>
                  </a:cubicBezTo>
                  <a:lnTo>
                    <a:pt x="220726" y="4231640"/>
                  </a:lnTo>
                  <a:cubicBezTo>
                    <a:pt x="98806" y="4231640"/>
                    <a:pt x="0" y="4132834"/>
                    <a:pt x="0" y="4010914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9550527" y="6368415"/>
            <a:ext cx="842010" cy="842010"/>
            <a:chOff x="0" y="0"/>
            <a:chExt cx="1122680" cy="11226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1E5B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9560052" y="6377940"/>
            <a:ext cx="822960" cy="822960"/>
            <a:chOff x="0" y="0"/>
            <a:chExt cx="1097280" cy="1097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10972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794492" y="6515100"/>
            <a:ext cx="6172200" cy="480060"/>
            <a:chOff x="0" y="0"/>
            <a:chExt cx="8229600" cy="6400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229600" cy="640080"/>
            </a:xfrm>
            <a:custGeom>
              <a:avLst/>
              <a:gdLst/>
              <a:ahLst/>
              <a:cxnLst/>
              <a:rect r="r" b="b" t="t" l="l"/>
              <a:pathLst>
                <a:path h="6400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82296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EDUCATIONAL IMPACT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0794492" y="7153275"/>
            <a:ext cx="617220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1920"/>
              </a:lnSpc>
              <a:spcAft>
                <a:spcPts val="500"/>
              </a:spcAft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Each alert names the brand that hides the ingredient. Pylokit looks like a stomach kit; it contains clarithromycin. Staff learn the hidden ones by seeing them.</a:t>
            </a:r>
          </a:p>
          <a:p>
            <a:pPr algn="l" marL="380048" indent="-190024" lvl="1">
              <a:lnSpc>
                <a:spcPts val="1920"/>
              </a:lnSpc>
              <a:spcAft>
                <a:spcPts val="500"/>
              </a:spcAft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page shows every limit and where it came from, so a pharmacy student can check our work.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6824960" y="9669018"/>
            <a:ext cx="681228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9CC4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2755880" y="1645920"/>
            <a:ext cx="4841748" cy="480060"/>
            <a:chOff x="0" y="0"/>
            <a:chExt cx="6455664" cy="6400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455664" cy="640080"/>
            </a:xfrm>
            <a:custGeom>
              <a:avLst/>
              <a:gdLst/>
              <a:ahLst/>
              <a:cxnLst/>
              <a:rect r="r" b="b" t="t" l="l"/>
              <a:pathLst>
                <a:path h="640080" w="6455664">
                  <a:moveTo>
                    <a:pt x="0" y="0"/>
                  </a:moveTo>
                  <a:lnTo>
                    <a:pt x="6455664" y="0"/>
                  </a:lnTo>
                  <a:lnTo>
                    <a:pt x="645566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6520" r="0" b="-14652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6455664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Plot Armor  |  U6USN474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85800" y="438912"/>
            <a:ext cx="1657741" cy="754380"/>
            <a:chOff x="0" y="0"/>
            <a:chExt cx="2210321" cy="1005840"/>
          </a:xfrm>
        </p:grpSpPr>
        <p:sp>
          <p:nvSpPr>
            <p:cNvPr name="Freeform 4" id="4" descr="logo_white.png"/>
            <p:cNvSpPr/>
            <p:nvPr/>
          </p:nvSpPr>
          <p:spPr>
            <a:xfrm flipH="false" flipV="false" rot="0">
              <a:off x="0" y="0"/>
              <a:ext cx="2210308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0308">
                  <a:moveTo>
                    <a:pt x="0" y="0"/>
                  </a:moveTo>
                  <a:lnTo>
                    <a:pt x="2210308" y="0"/>
                  </a:lnTo>
                  <a:lnTo>
                    <a:pt x="2210308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389120" y="548640"/>
            <a:ext cx="13167360" cy="548640"/>
            <a:chOff x="0" y="0"/>
            <a:chExt cx="17556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55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7556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spc="449">
                  <a:solidFill>
                    <a:srgbClr val="9CC4FF"/>
                  </a:solidFill>
                  <a:latin typeface="Arial"/>
                  <a:ea typeface="Arial"/>
                  <a:cs typeface="Arial"/>
                  <a:sym typeface="Arial"/>
                </a:rPr>
                <a:t>36-HOUR HACKATHON  |  24–25 OCTOBER 2026  |  MANIPAL UNIVERSITY JAIPUR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9532620"/>
            <a:ext cx="16911828" cy="13716"/>
            <a:chOff x="0" y="0"/>
            <a:chExt cx="22549104" cy="182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49104" cy="18288"/>
            </a:xfrm>
            <a:custGeom>
              <a:avLst/>
              <a:gdLst/>
              <a:ahLst/>
              <a:cxnLst/>
              <a:rect r="r" b="b" t="t" l="l"/>
              <a:pathLst>
                <a:path h="18288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E5BFF">
                <a:alpha val="24706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85800" y="9642348"/>
            <a:ext cx="12344400" cy="411480"/>
            <a:chOff x="0" y="0"/>
            <a:chExt cx="164592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45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Computer and Communications Engineering  •  Manipal University Jaipur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1440180"/>
            <a:ext cx="16911828" cy="1097280"/>
            <a:chOff x="0" y="0"/>
            <a:chExt cx="22549104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2549104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BUSINESS MODEL &amp; SUSTAINABILITY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6275" y="2527935"/>
            <a:ext cx="5505450" cy="6671310"/>
            <a:chOff x="0" y="0"/>
            <a:chExt cx="7340600" cy="8895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40600" cy="8895080"/>
            </a:xfrm>
            <a:custGeom>
              <a:avLst/>
              <a:gdLst/>
              <a:ahLst/>
              <a:cxnLst/>
              <a:rect r="r" b="b" t="t" l="l"/>
              <a:pathLst>
                <a:path h="8895080" w="734060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7120382" y="0"/>
                  </a:lnTo>
                  <a:cubicBezTo>
                    <a:pt x="7242048" y="0"/>
                    <a:pt x="7340600" y="98552"/>
                    <a:pt x="7340600" y="220218"/>
                  </a:cubicBezTo>
                  <a:lnTo>
                    <a:pt x="7340600" y="8674862"/>
                  </a:lnTo>
                  <a:cubicBezTo>
                    <a:pt x="7340600" y="8796528"/>
                    <a:pt x="7242048" y="8895080"/>
                    <a:pt x="7120382" y="8895080"/>
                  </a:cubicBezTo>
                  <a:lnTo>
                    <a:pt x="220218" y="8895080"/>
                  </a:lnTo>
                  <a:cubicBezTo>
                    <a:pt x="98552" y="8895080"/>
                    <a:pt x="0" y="8796528"/>
                    <a:pt x="0" y="8674862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97280" y="2811780"/>
            <a:ext cx="4663440" cy="480060"/>
            <a:chOff x="0" y="0"/>
            <a:chExt cx="621792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62179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TARGET USERS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97280" y="3518535"/>
            <a:ext cx="4663440" cy="525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400"/>
              </a:lnSpc>
              <a:spcAft>
                <a:spcPts val="1200"/>
              </a:spcAft>
              <a:buFont typeface="Arial"/>
              <a:buChar char="•"/>
            </a:pPr>
            <a:r>
              <a:rPr lang="en-US" sz="2000" b="1">
                <a:solidFill>
                  <a:srgbClr val="9CC4FF"/>
                </a:solidFill>
                <a:latin typeface="Calibri (MS)"/>
                <a:ea typeface="Calibri (MS)"/>
                <a:cs typeface="Calibri (MS)"/>
                <a:sym typeface="Calibri (MS)"/>
              </a:rPr>
              <a:t>Who uses it:</a:t>
            </a: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the pharmacist who checks each order at an e-pharmacy or a chain's counter. Not doctors, not patients.</a:t>
            </a:r>
          </a:p>
          <a:p>
            <a:pPr algn="l" marL="380048" indent="-190024" lvl="1">
              <a:lnSpc>
                <a:spcPts val="2400"/>
              </a:lnSpc>
              <a:spcAft>
                <a:spcPts val="1200"/>
              </a:spcAft>
              <a:buFont typeface="Arial"/>
              <a:buChar char="•"/>
            </a:pPr>
            <a:r>
              <a:rPr lang="en-US" sz="2000" b="1">
                <a:solidFill>
                  <a:srgbClr val="9CC4FF"/>
                </a:solidFill>
                <a:latin typeface="Calibri (MS)"/>
                <a:ea typeface="Calibri (MS)"/>
                <a:cs typeface="Calibri (MS)"/>
                <a:sym typeface="Calibri (MS)"/>
              </a:rPr>
              <a:t>Who buys it:</a:t>
            </a: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e-pharmacies like Tata 1mg, whose pharmacists already review every prescription, and chains like Apollo and MedPlus. Hospitals come later.</a:t>
            </a:r>
          </a:p>
          <a:p>
            <a:pPr algn="l" marL="380048" indent="-190024" lvl="1">
              <a:lnSpc>
                <a:spcPts val="2400"/>
              </a:lnSpc>
              <a:spcAft>
                <a:spcPts val="1200"/>
              </a:spcAft>
              <a:buFont typeface="Arial"/>
              <a:buChar char="•"/>
            </a:pPr>
            <a:r>
              <a:rPr lang="en-US" sz="2000" b="1">
                <a:solidFill>
                  <a:srgbClr val="9CC4FF"/>
                </a:solidFill>
                <a:latin typeface="Calibri (MS)"/>
                <a:ea typeface="Calibri (MS)"/>
                <a:cs typeface="Calibri (MS)"/>
                <a:sym typeface="Calibri (MS)"/>
              </a:rPr>
              <a:t>Who goes first:</a:t>
            </a: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a chain's central review desk, where one team checks many orders.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395847" y="2527935"/>
            <a:ext cx="5505450" cy="6671310"/>
            <a:chOff x="0" y="0"/>
            <a:chExt cx="7340600" cy="8895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40600" cy="8895080"/>
            </a:xfrm>
            <a:custGeom>
              <a:avLst/>
              <a:gdLst/>
              <a:ahLst/>
              <a:cxnLst/>
              <a:rect r="r" b="b" t="t" l="l"/>
              <a:pathLst>
                <a:path h="8895080" w="734060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7120382" y="0"/>
                  </a:lnTo>
                  <a:cubicBezTo>
                    <a:pt x="7242048" y="0"/>
                    <a:pt x="7340600" y="98552"/>
                    <a:pt x="7340600" y="220218"/>
                  </a:cubicBezTo>
                  <a:lnTo>
                    <a:pt x="7340600" y="8674862"/>
                  </a:lnTo>
                  <a:cubicBezTo>
                    <a:pt x="7340600" y="8796528"/>
                    <a:pt x="7242048" y="8895080"/>
                    <a:pt x="7120382" y="8895080"/>
                  </a:cubicBezTo>
                  <a:lnTo>
                    <a:pt x="220218" y="8895080"/>
                  </a:lnTo>
                  <a:cubicBezTo>
                    <a:pt x="98552" y="8895080"/>
                    <a:pt x="0" y="8796528"/>
                    <a:pt x="0" y="8674862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816852" y="2811780"/>
            <a:ext cx="4663440" cy="480060"/>
            <a:chOff x="0" y="0"/>
            <a:chExt cx="6217920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62179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REVENUE &amp; COST MODEL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816852" y="3518535"/>
            <a:ext cx="4663440" cy="525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160"/>
              </a:lnSpc>
              <a:spcAft>
                <a:spcPts val="1000"/>
              </a:spcAft>
              <a:buFont typeface="Arial"/>
              <a:buChar char="•"/>
            </a:pPr>
            <a:r>
              <a:rPr lang="en-US" sz="1800" b="1">
                <a:solidFill>
                  <a:srgbClr val="9CC4FF"/>
                </a:solidFill>
                <a:latin typeface="Calibri (MS)"/>
                <a:ea typeface="Calibri (MS)"/>
                <a:cs typeface="Calibri (MS)"/>
                <a:sym typeface="Calibri (MS)"/>
              </a:rPr>
              <a:t>Pilot:</a:t>
            </a: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free at one partner pharmacy, to measure the minutes saved and the errors caught.</a:t>
            </a:r>
          </a:p>
          <a:p>
            <a:pPr algn="l" marL="380048" indent="-190024" lvl="1">
              <a:lnSpc>
                <a:spcPts val="2160"/>
              </a:lnSpc>
              <a:spcAft>
                <a:spcPts val="1000"/>
              </a:spcAft>
              <a:buFont typeface="Arial"/>
              <a:buChar char="•"/>
            </a:pPr>
            <a:r>
              <a:rPr lang="en-US" sz="1800" b="1">
                <a:solidFill>
                  <a:srgbClr val="9CC4FF"/>
                </a:solidFill>
                <a:latin typeface="Calibri (MS)"/>
                <a:ea typeface="Calibri (MS)"/>
                <a:cs typeface="Calibri (MS)"/>
                <a:sym typeface="Calibri (MS)"/>
              </a:rPr>
              <a:t>Pricing:</a:t>
            </a: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a small fee per check for e-pharmacies, a licence per store for chains, free for independent chemists.</a:t>
            </a:r>
          </a:p>
          <a:p>
            <a:pPr algn="l" marL="380048" indent="-190024" lvl="1">
              <a:lnSpc>
                <a:spcPts val="2160"/>
              </a:lnSpc>
              <a:spcAft>
                <a:spcPts val="1000"/>
              </a:spcAft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They would pay because reviews go faster and fewer risky products reach customers.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101703" y="2527935"/>
            <a:ext cx="5505450" cy="6671310"/>
            <a:chOff x="0" y="0"/>
            <a:chExt cx="7340600" cy="8895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40600" cy="8895080"/>
            </a:xfrm>
            <a:custGeom>
              <a:avLst/>
              <a:gdLst/>
              <a:ahLst/>
              <a:cxnLst/>
              <a:rect r="r" b="b" t="t" l="l"/>
              <a:pathLst>
                <a:path h="8895080" w="734060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7120382" y="0"/>
                  </a:lnTo>
                  <a:cubicBezTo>
                    <a:pt x="7242048" y="0"/>
                    <a:pt x="7340600" y="98552"/>
                    <a:pt x="7340600" y="220218"/>
                  </a:cubicBezTo>
                  <a:lnTo>
                    <a:pt x="7340600" y="8674862"/>
                  </a:lnTo>
                  <a:cubicBezTo>
                    <a:pt x="7340600" y="8796528"/>
                    <a:pt x="7242048" y="8895080"/>
                    <a:pt x="7120382" y="8895080"/>
                  </a:cubicBezTo>
                  <a:lnTo>
                    <a:pt x="220218" y="8895080"/>
                  </a:lnTo>
                  <a:cubicBezTo>
                    <a:pt x="98552" y="8895080"/>
                    <a:pt x="0" y="8796528"/>
                    <a:pt x="0" y="8674862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522708" y="2811780"/>
            <a:ext cx="4663440" cy="480060"/>
            <a:chOff x="0" y="0"/>
            <a:chExt cx="6217920" cy="640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62179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SUSTAINABILITY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522708" y="3518535"/>
            <a:ext cx="4663440" cy="525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280"/>
              </a:lnSpc>
              <a:spcAft>
                <a:spcPts val="1200"/>
              </a:spcAft>
              <a:buFont typeface="Arial"/>
              <a:buChar char="•"/>
            </a:pPr>
            <a:r>
              <a:rPr lang="en-US" sz="1900" b="1">
                <a:solidFill>
                  <a:srgbClr val="9CC4FF"/>
                </a:solidFill>
                <a:latin typeface="Calibri (MS)"/>
                <a:ea typeface="Calibri (MS)"/>
                <a:cs typeface="Calibri (MS)"/>
                <a:sym typeface="Calibri (MS)"/>
              </a:rPr>
              <a:t>Partners:</a:t>
            </a:r>
            <a:r>
              <a:rPr lang="en-US" sz="1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a panel of pharmacists signs off the limits and rules. Buyers share their own product catalogue.</a:t>
            </a:r>
          </a:p>
          <a:p>
            <a:pPr algn="l" marL="380048" indent="-190024" lvl="1">
              <a:lnSpc>
                <a:spcPts val="2280"/>
              </a:lnSpc>
              <a:spcAft>
                <a:spcPts val="1200"/>
              </a:spcAft>
              <a:buFont typeface="Arial"/>
              <a:buChar char="•"/>
            </a:pPr>
            <a:r>
              <a:rPr lang="en-US" sz="1900" b="1">
                <a:solidFill>
                  <a:srgbClr val="9CC4FF"/>
                </a:solidFill>
                <a:latin typeface="Calibri (MS)"/>
                <a:ea typeface="Calibri (MS)"/>
                <a:cs typeface="Calibri (MS)"/>
                <a:sym typeface="Calibri (MS)"/>
              </a:rPr>
              <a:t>Next:</a:t>
            </a:r>
            <a:r>
              <a:rPr lang="en-US" sz="1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breastfeeding checks, more rules for older patients, and the customer leaflet in more languages.</a:t>
            </a:r>
          </a:p>
          <a:p>
            <a:pPr algn="l" marL="380048" indent="-190024" lvl="1">
              <a:lnSpc>
                <a:spcPts val="2280"/>
              </a:lnSpc>
              <a:spcAft>
                <a:spcPts val="1200"/>
              </a:spcAft>
              <a:buFont typeface="Arial"/>
              <a:buChar char="•"/>
            </a:pPr>
            <a:r>
              <a:rPr lang="en-US" sz="1900" b="1">
                <a:solidFill>
                  <a:srgbClr val="9CC4FF"/>
                </a:solidFill>
                <a:latin typeface="Calibri (MS)"/>
                <a:ea typeface="Calibri (MS)"/>
                <a:cs typeface="Calibri (MS)"/>
                <a:sym typeface="Calibri (MS)"/>
              </a:rPr>
              <a:t>Open to checking:</a:t>
            </a:r>
            <a:r>
              <a:rPr lang="en-US" sz="1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we would share our test set and source list so anyone can test our claims. The licence is still to be decided.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824960" y="9669018"/>
            <a:ext cx="681228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9CC4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755880" y="1645920"/>
            <a:ext cx="4841748" cy="480060"/>
            <a:chOff x="0" y="0"/>
            <a:chExt cx="6455664" cy="640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455664" cy="640080"/>
            </a:xfrm>
            <a:custGeom>
              <a:avLst/>
              <a:gdLst/>
              <a:ahLst/>
              <a:cxnLst/>
              <a:rect r="r" b="b" t="t" l="l"/>
              <a:pathLst>
                <a:path h="640080" w="6455664">
                  <a:moveTo>
                    <a:pt x="0" y="0"/>
                  </a:moveTo>
                  <a:lnTo>
                    <a:pt x="6455664" y="0"/>
                  </a:lnTo>
                  <a:lnTo>
                    <a:pt x="645566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6520" r="0" b="-14652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455664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Plot Armor  |  U6USN474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6821424" y="7543800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i="0" b="1">
                <a:solidFill>
                  <a:srgbClr val="FFC857"/>
                </a:solidFill>
                <a:latin typeface="Calibri (MS)"/>
              </a:rPr>
              <a:t>US$30B → 53B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21424" y="822960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i="0" b="0">
                <a:solidFill>
                  <a:srgbClr val="9CC4FF"/>
                </a:solidFill>
                <a:latin typeface="Calibri (MS)"/>
              </a:rPr>
              <a:t>India's pharmacy retail, 2025 to 2031 (Ken Research estimate)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85800" y="438912"/>
            <a:ext cx="1657741" cy="754380"/>
            <a:chOff x="0" y="0"/>
            <a:chExt cx="2210321" cy="1005840"/>
          </a:xfrm>
        </p:grpSpPr>
        <p:sp>
          <p:nvSpPr>
            <p:cNvPr name="Freeform 4" id="4" descr="logo_white.png"/>
            <p:cNvSpPr/>
            <p:nvPr/>
          </p:nvSpPr>
          <p:spPr>
            <a:xfrm flipH="false" flipV="false" rot="0">
              <a:off x="0" y="0"/>
              <a:ext cx="2210308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0308">
                  <a:moveTo>
                    <a:pt x="0" y="0"/>
                  </a:moveTo>
                  <a:lnTo>
                    <a:pt x="2210308" y="0"/>
                  </a:lnTo>
                  <a:lnTo>
                    <a:pt x="2210308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389120" y="548640"/>
            <a:ext cx="13167360" cy="548640"/>
            <a:chOff x="0" y="0"/>
            <a:chExt cx="17556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55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7556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spc="449">
                  <a:solidFill>
                    <a:srgbClr val="9CC4FF"/>
                  </a:solidFill>
                  <a:latin typeface="Arial"/>
                  <a:ea typeface="Arial"/>
                  <a:cs typeface="Arial"/>
                  <a:sym typeface="Arial"/>
                </a:rPr>
                <a:t>36-HOUR HACKATHON  |  24–25 OCTOBER 2026  |  MANIPAL UNIVERSITY JAIPUR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9532620"/>
            <a:ext cx="16911828" cy="13716"/>
            <a:chOff x="0" y="0"/>
            <a:chExt cx="22549104" cy="182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49104" cy="18288"/>
            </a:xfrm>
            <a:custGeom>
              <a:avLst/>
              <a:gdLst/>
              <a:ahLst/>
              <a:cxnLst/>
              <a:rect r="r" b="b" t="t" l="l"/>
              <a:pathLst>
                <a:path h="18288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E5BFF">
                <a:alpha val="24706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85800" y="9642348"/>
            <a:ext cx="12344400" cy="411480"/>
            <a:chOff x="0" y="0"/>
            <a:chExt cx="164592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45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Computer and Communications Engineering  •  Manipal University Jaipur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1440180"/>
            <a:ext cx="16911828" cy="1097280"/>
            <a:chOff x="0" y="0"/>
            <a:chExt cx="22549104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2549104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RESEARCH AND REFERENCES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6275" y="2527935"/>
            <a:ext cx="16930878" cy="6671310"/>
            <a:chOff x="0" y="0"/>
            <a:chExt cx="22574504" cy="8895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574503" cy="8895080"/>
            </a:xfrm>
            <a:custGeom>
              <a:avLst/>
              <a:gdLst/>
              <a:ahLst/>
              <a:cxnLst/>
              <a:rect r="r" b="b" t="t" l="l"/>
              <a:pathLst>
                <a:path h="8895080" w="22574503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22354412" y="0"/>
                  </a:lnTo>
                  <a:cubicBezTo>
                    <a:pt x="22475952" y="0"/>
                    <a:pt x="22574503" y="98552"/>
                    <a:pt x="22574503" y="220091"/>
                  </a:cubicBezTo>
                  <a:lnTo>
                    <a:pt x="22574503" y="8674989"/>
                  </a:lnTo>
                  <a:cubicBezTo>
                    <a:pt x="22574503" y="8796528"/>
                    <a:pt x="22475952" y="8895080"/>
                    <a:pt x="22354412" y="8895080"/>
                  </a:cubicBezTo>
                  <a:lnTo>
                    <a:pt x="220091" y="8895080"/>
                  </a:lnTo>
                  <a:cubicBezTo>
                    <a:pt x="98552" y="8895080"/>
                    <a:pt x="0" y="8796528"/>
                    <a:pt x="0" y="8674989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97280" y="2811780"/>
            <a:ext cx="15773400" cy="480060"/>
            <a:chOff x="0" y="0"/>
            <a:chExt cx="2103120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031200" cy="640080"/>
            </a:xfrm>
            <a:custGeom>
              <a:avLst/>
              <a:gdLst/>
              <a:ahLst/>
              <a:cxnLst/>
              <a:rect r="r" b="b" t="t" l="l"/>
              <a:pathLst>
                <a:path h="6400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90222" r="0" b="-59022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10312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TECH &amp; RESEARCH SOURCES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97280" y="3528060"/>
            <a:ext cx="9052560" cy="5394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1680"/>
              </a:lnSpc>
              <a:spcAft>
                <a:spcPts val="600"/>
              </a:spcAft>
              <a:buFont typeface="Arial"/>
              <a:buAutoNum type="arabicPeriod"/>
            </a:pPr>
            <a:r>
              <a:rPr lang="en-US" sz="1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Poly T. N. et al., "Appropriateness of overridden alerts in computerized physician order entry: systematic review," JMIR Med. Inform., 8(7), e15653, 2020.</a:t>
            </a:r>
          </a:p>
          <a:p>
            <a:pPr algn="l" marL="380048" indent="-190024" lvl="1">
              <a:lnSpc>
                <a:spcPts val="1680"/>
              </a:lnSpc>
              <a:spcAft>
                <a:spcPts val="600"/>
              </a:spcAft>
              <a:buFont typeface="Arial"/>
              <a:buAutoNum type="arabicPeriod"/>
            </a:pPr>
            <a:r>
              <a:rPr lang="en-US" sz="1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Sicard J. et al., "Can large language models detect drug-drug interactions leading to adverse drug reactions?," Ther. Adv. Drug Saf., 16, 2025.</a:t>
            </a:r>
          </a:p>
          <a:p>
            <a:pPr algn="l" marL="380048" indent="-190024" lvl="1">
              <a:lnSpc>
                <a:spcPts val="1680"/>
              </a:lnSpc>
              <a:spcAft>
                <a:spcPts val="600"/>
              </a:spcAft>
              <a:buFont typeface="Arial"/>
              <a:buAutoNum type="arabicPeriod"/>
            </a:pPr>
            <a:r>
              <a:rPr lang="en-US" sz="1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Thapa R. B., Karki S., Shrestha S., "Exploring potential drug-drug interactions in discharge prescriptions: ChatGPT's effectiveness," Explor. Res. Clin. Soc. Pharm., 17, 100564, 2025.</a:t>
            </a:r>
          </a:p>
          <a:p>
            <a:pPr algn="l" marL="380048" indent="-190024" lvl="1">
              <a:lnSpc>
                <a:spcPts val="1680"/>
              </a:lnSpc>
              <a:spcAft>
                <a:spcPts val="600"/>
              </a:spcAft>
              <a:buFont typeface="Arial"/>
              <a:buAutoNum type="arabicPeriod"/>
            </a:pPr>
            <a:r>
              <a:rPr lang="en-US" sz="1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Bhagavathula A. S. et al., "Prevalence of polypharmacy, hyperpolypharmacy and potentially inappropriate medication use in older adults in India," Front. Pharmacol., 12, 685518, 2021.</a:t>
            </a:r>
          </a:p>
          <a:p>
            <a:pPr algn="l" marL="380048" indent="-190024" lvl="1">
              <a:lnSpc>
                <a:spcPts val="1680"/>
              </a:lnSpc>
              <a:spcAft>
                <a:spcPts val="600"/>
              </a:spcAft>
              <a:buFont typeface="Arial"/>
              <a:buAutoNum type="arabicPeriod"/>
            </a:pPr>
            <a:r>
              <a:rPr lang="en-US" sz="1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Neelakantan M., Sharma P., Kulkarni A., "Look-alike, sound-alike (LASA) drugs in India," Lancet Reg. Health Southeast Asia, 26, 100425, 2024.</a:t>
            </a:r>
          </a:p>
          <a:p>
            <a:pPr algn="l" marL="380048" indent="-190024" lvl="1">
              <a:lnSpc>
                <a:spcPts val="1680"/>
              </a:lnSpc>
              <a:spcAft>
                <a:spcPts val="600"/>
              </a:spcAft>
              <a:buFont typeface="Arial"/>
              <a:buAutoNum type="arabicPeriod"/>
            </a:pPr>
            <a:r>
              <a:rPr lang="en-US" sz="1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Rashid M. et al., "Prevalence and predictors of self-medication practices in India: a systematic review and meta-analysis," Curr. Clin. Pharmacol., 15(2), 90-101, 2020.</a:t>
            </a:r>
          </a:p>
          <a:p>
            <a:pPr algn="l" marL="380048" indent="-190024" lvl="1">
              <a:lnSpc>
                <a:spcPts val="1680"/>
              </a:lnSpc>
              <a:spcAft>
                <a:spcPts val="600"/>
              </a:spcAft>
              <a:buFont typeface="Arial"/>
              <a:buAutoNum type="arabicPeriod"/>
            </a:pPr>
            <a:r>
              <a:rPr lang="en-US" sz="1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Phansalkar S. et al., "High-priority drug-drug interactions for use in electronic health records," J. Am. Med. Inform. Assoc., 19(5), 735-743, 2012.</a:t>
            </a:r>
          </a:p>
          <a:p>
            <a:pPr algn="l" marL="380048" indent="-190024" lvl="1">
              <a:lnSpc>
                <a:spcPts val="1680"/>
              </a:lnSpc>
              <a:spcAft>
                <a:spcPts val="600"/>
              </a:spcAft>
              <a:buFont typeface="Arial"/>
              <a:buAutoNum type="arabicPeriod"/>
            </a:pPr>
            <a:r>
              <a:rPr lang="en-US" sz="1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Lapi F. et al., "Concurrent use of diuretics, ACE inhibitors, and ARBs with NSAIDs and risk of acute kidney injury," BMJ, 346, e8525, 2013.</a:t>
            </a:r>
          </a:p>
          <a:p>
            <a:pPr algn="l" marL="380048" indent="-190024" lvl="1">
              <a:lnSpc>
                <a:spcPts val="1680"/>
              </a:lnSpc>
              <a:spcAft>
                <a:spcPts val="600"/>
              </a:spcAft>
              <a:buFont typeface="Arial"/>
              <a:buAutoNum type="arabicPeriod"/>
            </a:pPr>
            <a:r>
              <a:rPr lang="en-US" sz="1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AGS Beers Criteria Update Expert Panel, "2023 updated AGS Beers Criteria," J. Am. Geriatr. Soc., 71(7), 2052-2081, 2023.</a:t>
            </a:r>
          </a:p>
          <a:p>
            <a:pPr algn="l" marL="380048" indent="-190024" lvl="1">
              <a:lnSpc>
                <a:spcPts val="1680"/>
              </a:lnSpc>
              <a:spcAft>
                <a:spcPts val="600"/>
              </a:spcAft>
              <a:buFont typeface="Arial"/>
              <a:buAutoNum type="arabicPeriod"/>
            </a:pPr>
            <a:r>
              <a:rPr lang="en-US" sz="1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Cockcroft D. W., Gault M. H., "Prediction of creatinine clearance from serum creatinine," Nephron, 16(1), 31-41, 1976.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824960" y="9669018"/>
            <a:ext cx="681228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9CC4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755880" y="1645920"/>
            <a:ext cx="4841748" cy="480060"/>
            <a:chOff x="0" y="0"/>
            <a:chExt cx="6455664" cy="640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55664" cy="640080"/>
            </a:xfrm>
            <a:custGeom>
              <a:avLst/>
              <a:gdLst/>
              <a:ahLst/>
              <a:cxnLst/>
              <a:rect r="r" b="b" t="t" l="l"/>
              <a:pathLst>
                <a:path h="640080" w="6455664">
                  <a:moveTo>
                    <a:pt x="0" y="0"/>
                  </a:moveTo>
                  <a:lnTo>
                    <a:pt x="6455664" y="0"/>
                  </a:lnTo>
                  <a:lnTo>
                    <a:pt x="645566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6520" r="0" b="-14652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455664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Plot Armor  |  U6USN474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10469880" y="3529584"/>
            <a:ext cx="67208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80048" indent="-190024" lvl="1">
              <a:lnSpc>
                <a:spcPts val="2040"/>
              </a:lnSpc>
              <a:spcAft>
                <a:spcPts val="1000"/>
              </a:spcAft>
              <a:buFont typeface="Arial"/>
              <a:buChar char="•"/>
            </a:pPr>
            <a:r>
              <a:rPr lang="en-US" sz="1700" b="1">
                <a:solidFill>
                  <a:srgbClr val="9CC4FF"/>
                </a:solidFill>
                <a:latin typeface="Calibri (MS)"/>
                <a:ea typeface="Calibri (MS)"/>
                <a:cs typeface="Calibri (MS)"/>
                <a:sym typeface="Calibri (MS)"/>
              </a:rPr>
              <a:t>Standards and formulas:</a:t>
            </a:r>
            <a:r>
              <a:rPr lang="en-US" sz="1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HL7 FHIR (India's ABDM prescription profile), the Cockcroft-Gault kidney formula, WHO AWaRe antibiotic groups.</a:t>
            </a:r>
          </a:p>
          <a:p>
            <a:pPr algn="l" marL="380048" indent="-190024" lvl="1">
              <a:lnSpc>
                <a:spcPts val="2040"/>
              </a:lnSpc>
              <a:spcAft>
                <a:spcPts val="1000"/>
              </a:spcAft>
              <a:buFont typeface="Arial"/>
              <a:buChar char="•"/>
            </a:pPr>
            <a:r>
              <a:rPr lang="en-US" sz="1700" b="1">
                <a:solidFill>
                  <a:srgbClr val="9CC4FF"/>
                </a:solidFill>
                <a:latin typeface="Calibri (MS)"/>
                <a:ea typeface="Calibri (MS)"/>
                <a:cs typeface="Calibri (MS)"/>
                <a:sym typeface="Calibri (MS)"/>
              </a:rPr>
              <a:t>Datasets:</a:t>
            </a:r>
            <a:r>
              <a:rPr lang="en-US" sz="1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DDInter 2.0 (</a:t>
            </a:r>
            <a:r>
              <a:rPr lang="en-US" sz="1700" b="1">
                <a:solidFill>
                  <a:srgbClr val="FFC857"/>
                </a:solidFill>
                <a:latin typeface="Calibri (MS)"/>
                <a:ea typeface="Calibri (MS)"/>
                <a:cs typeface="Calibri (MS)"/>
                <a:sym typeface="Calibri (MS)"/>
              </a:rPr>
              <a:t>302,516 interactions</a:t>
            </a:r>
            <a:r>
              <a:rPr lang="en-US" sz="1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, 2,310 drugs); Kaggle A-Z and 1mg Indian brand data; CDSCO lists (</a:t>
            </a:r>
            <a:r>
              <a:rPr lang="en-US" sz="1700" b="1">
                <a:solidFill>
                  <a:srgbClr val="FFC857"/>
                </a:solidFill>
                <a:latin typeface="Calibri (MS)"/>
                <a:ea typeface="Calibri (MS)"/>
                <a:cs typeface="Calibri (MS)"/>
                <a:sym typeface="Calibri (MS)"/>
              </a:rPr>
              <a:t>156 combinations banned in 2024, 16 more in June 2026</a:t>
            </a:r>
            <a:r>
              <a:rPr lang="en-US" sz="1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, plus monthly quality alerts); Jan Aushadhi; openFDA labels; Eka Care's brand and National Formulary question sets.</a:t>
            </a:r>
          </a:p>
          <a:p>
            <a:pPr algn="l" marL="380048" indent="-190024" lvl="1">
              <a:lnSpc>
                <a:spcPts val="2040"/>
              </a:lnSpc>
              <a:spcAft>
                <a:spcPts val="1000"/>
              </a:spcAft>
              <a:buFont typeface="Arial"/>
              <a:buChar char="•"/>
            </a:pPr>
            <a:r>
              <a:rPr lang="en-US" sz="1700" b="1">
                <a:solidFill>
                  <a:srgbClr val="9CC4FF"/>
                </a:solidFill>
                <a:latin typeface="Calibri (MS)"/>
                <a:ea typeface="Calibri (MS)"/>
                <a:cs typeface="Calibri (MS)"/>
                <a:sym typeface="Calibri (MS)"/>
              </a:rPr>
              <a:t>Existing solution studied:</a:t>
            </a:r>
            <a:r>
              <a:rPr lang="en-US" sz="1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medThinks does brand unpacking, pairwise interactions and banned-combination flags. Its public page (checked 24 Oct) doesn't mention adding up doses across brands.</a:t>
            </a:r>
          </a:p>
          <a:p>
            <a:pPr algn="l" marL="380048" indent="-190024" lvl="1">
              <a:lnSpc>
                <a:spcPts val="2040"/>
              </a:lnSpc>
              <a:spcAft>
                <a:spcPts val="1000"/>
              </a:spcAft>
              <a:buFont typeface="Arial"/>
              <a:buChar char="•"/>
            </a:pPr>
            <a:r>
              <a:rPr lang="en-US" sz="1700" b="1">
                <a:solidFill>
                  <a:srgbClr val="9CC4FF"/>
                </a:solidFill>
                <a:latin typeface="Calibri (MS)"/>
                <a:ea typeface="Calibri (MS)"/>
                <a:cs typeface="Calibri (MS)"/>
                <a:sym typeface="Calibri (MS)"/>
              </a:rPr>
              <a:t>Documentation and links:</a:t>
            </a:r>
            <a:r>
              <a:rPr lang="en-US" sz="1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 xml:space="preserve"> open.fda.gov/apis/drug/label (drug labels), ddinter2.scbdd.com (interactions), huggingface.co/ekacare (Eka Care sets), cdsco.gov.in (banned and quality lists).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2960" y="2743200"/>
            <a:ext cx="7132320" cy="3245663"/>
            <a:chOff x="0" y="0"/>
            <a:chExt cx="9509760" cy="4327550"/>
          </a:xfrm>
        </p:grpSpPr>
        <p:sp>
          <p:nvSpPr>
            <p:cNvPr name="Freeform 4" id="4" descr="HYPNEXIS 26 logo"/>
            <p:cNvSpPr/>
            <p:nvPr/>
          </p:nvSpPr>
          <p:spPr>
            <a:xfrm flipH="false" flipV="false" rot="0">
              <a:off x="0" y="0"/>
              <a:ext cx="9509760" cy="4327525"/>
            </a:xfrm>
            <a:custGeom>
              <a:avLst/>
              <a:gdLst/>
              <a:ahLst/>
              <a:cxnLst/>
              <a:rect r="r" b="b" t="t" l="l"/>
              <a:pathLst>
                <a:path h="4327525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4327525"/>
                  </a:lnTo>
                  <a:lnTo>
                    <a:pt x="0" y="4327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6446520"/>
            <a:ext cx="10972800" cy="1234440"/>
            <a:chOff x="0" y="0"/>
            <a:chExt cx="1463040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63040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b="true" sz="6600" spc="6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THANK YOU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7680960"/>
            <a:ext cx="10972800" cy="548640"/>
            <a:chOff x="0" y="0"/>
            <a:chExt cx="146304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Plot Armor</a:t>
              </a:r>
              <a:r>
                <a:rPr lang="en-US" sz="240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|  U6USN474  |  7744039295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9052560"/>
            <a:ext cx="10972800" cy="480060"/>
            <a:chOff x="0" y="0"/>
            <a:chExt cx="14630400" cy="64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74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CREATE / AN / IMPACT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DAHY8FSK67A</dc:identifier>
  <dcterms:modified xsi:type="dcterms:W3CDTF">2011-08-01T06:04:30Z</dcterms:modified>
  <cp:revision>1</cp:revision>
  <dc:title>U6USN474_Plot_Armor</dc:title>
</cp:coreProperties>
</file>