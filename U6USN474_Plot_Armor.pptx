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Calibri (MS)" charset="1" panose="020F0502020204030204"/>
      <p:regular r:id="rId19"/>
    </p:embeddedFont>
    <p:embeddedFont>
      <p:font typeface="Arial" charset="1" panose="020B0604020202020204"/>
      <p:regular r:id="rId20"/>
    </p:embeddedFont>
    <p:embeddedFont>
      <p:font typeface="Calibri (MS) Italics" charset="1" panose="020F05020202040A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3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3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3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3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png" Type="http://schemas.openxmlformats.org/officeDocument/2006/relationships/image"/><Relationship Id="rId4" Target="../media/image3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png" Type="http://schemas.openxmlformats.org/officeDocument/2006/relationships/image"/><Relationship Id="rId4" Target="../media/image3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png" Type="http://schemas.openxmlformats.org/officeDocument/2006/relationships/image"/><Relationship Id="rId4" Target="../media/image3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548640"/>
            <a:ext cx="9601200" cy="480060"/>
            <a:chOff x="0" y="0"/>
            <a:chExt cx="12801600" cy="640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28016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5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MANIPAL UNIVERSITY JAIPUR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1028700"/>
            <a:ext cx="10972800" cy="411480"/>
            <a:chOff x="0" y="0"/>
            <a:chExt cx="146304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and Communications Engineering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2400300"/>
            <a:ext cx="7680960" cy="3495332"/>
            <a:chOff x="0" y="0"/>
            <a:chExt cx="10241280" cy="4660443"/>
          </a:xfrm>
        </p:grpSpPr>
        <p:sp>
          <p:nvSpPr>
            <p:cNvPr name="Freeform 10" id="10" descr="HYPNEXIS 26 logo"/>
            <p:cNvSpPr/>
            <p:nvPr/>
          </p:nvSpPr>
          <p:spPr>
            <a:xfrm flipH="false" flipV="false" rot="0">
              <a:off x="0" y="0"/>
              <a:ext cx="10241280" cy="4660392"/>
            </a:xfrm>
            <a:custGeom>
              <a:avLst/>
              <a:gdLst/>
              <a:ahLst/>
              <a:cxnLst/>
              <a:rect r="r" b="b" t="t" l="l"/>
              <a:pathLst>
                <a:path h="46603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660392"/>
                  </a:lnTo>
                  <a:lnTo>
                    <a:pt x="0" y="4660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6789420"/>
            <a:ext cx="9601200" cy="480060"/>
            <a:chOff x="0" y="0"/>
            <a:chExt cx="1280160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28016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450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36-HOUR HACKATHON  •  24–25 OCTOBER 2026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7338060"/>
            <a:ext cx="9601200" cy="411480"/>
            <a:chOff x="0" y="0"/>
            <a:chExt cx="128016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5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BUILD / INNOVATE / CREATE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14635" y="2047875"/>
            <a:ext cx="7151370" cy="6739890"/>
            <a:chOff x="0" y="0"/>
            <a:chExt cx="9535160" cy="8986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35160" cy="8986520"/>
            </a:xfrm>
            <a:custGeom>
              <a:avLst/>
              <a:gdLst/>
              <a:ahLst/>
              <a:cxnLst/>
              <a:rect r="r" b="b" t="t" l="l"/>
              <a:pathLst>
                <a:path h="8986520" w="953516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9315069" y="0"/>
                  </a:lnTo>
                  <a:cubicBezTo>
                    <a:pt x="9436608" y="0"/>
                    <a:pt x="9535160" y="98552"/>
                    <a:pt x="9535160" y="220091"/>
                  </a:cubicBezTo>
                  <a:lnTo>
                    <a:pt x="9535160" y="8766429"/>
                  </a:lnTo>
                  <a:cubicBezTo>
                    <a:pt x="9535160" y="8887968"/>
                    <a:pt x="9436608" y="8986520"/>
                    <a:pt x="9315069" y="8986520"/>
                  </a:cubicBezTo>
                  <a:lnTo>
                    <a:pt x="220091" y="8986520"/>
                  </a:lnTo>
                  <a:cubicBezTo>
                    <a:pt x="98552" y="8986520"/>
                    <a:pt x="0" y="8887968"/>
                    <a:pt x="0" y="8766429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835640" y="2331720"/>
            <a:ext cx="6446520" cy="384048"/>
            <a:chOff x="0" y="0"/>
            <a:chExt cx="8595360" cy="5120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85953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NAME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35640" y="2702052"/>
            <a:ext cx="6446520" cy="521208"/>
            <a:chOff x="0" y="0"/>
            <a:chExt cx="8595360" cy="6949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95360" cy="694944"/>
            </a:xfrm>
            <a:custGeom>
              <a:avLst/>
              <a:gdLst/>
              <a:ahLst/>
              <a:cxnLst/>
              <a:rect r="r" b="b" t="t" l="l"/>
              <a:pathLst>
                <a:path h="69494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59536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35640" y="3374136"/>
            <a:ext cx="6446520" cy="384048"/>
            <a:chOff x="0" y="0"/>
            <a:chExt cx="8595360" cy="5120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85953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ID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35640" y="3744468"/>
            <a:ext cx="6446520" cy="521208"/>
            <a:chOff x="0" y="0"/>
            <a:chExt cx="8595360" cy="6949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595360" cy="694944"/>
            </a:xfrm>
            <a:custGeom>
              <a:avLst/>
              <a:gdLst/>
              <a:ahLst/>
              <a:cxnLst/>
              <a:rect r="r" b="b" t="t" l="l"/>
              <a:pathLst>
                <a:path h="69494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59536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U6USN474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35640" y="4416552"/>
            <a:ext cx="6446520" cy="384048"/>
            <a:chOff x="0" y="0"/>
            <a:chExt cx="8595360" cy="5120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85953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 ID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35640" y="4786884"/>
            <a:ext cx="6446520" cy="521208"/>
            <a:chOff x="0" y="0"/>
            <a:chExt cx="8595360" cy="6949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595360" cy="694944"/>
            </a:xfrm>
            <a:custGeom>
              <a:avLst/>
              <a:gdLst/>
              <a:ahLst/>
              <a:cxnLst/>
              <a:rect r="r" b="b" t="t" l="l"/>
              <a:pathLst>
                <a:path h="69494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59536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HM-02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835640" y="5458968"/>
            <a:ext cx="6446520" cy="384048"/>
            <a:chOff x="0" y="0"/>
            <a:chExt cx="8595360" cy="5120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85953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 TITLE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35640" y="5829300"/>
            <a:ext cx="6446520" cy="842218"/>
            <a:chOff x="0" y="0"/>
            <a:chExt cx="8595360" cy="112295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95360" cy="1122958"/>
            </a:xfrm>
            <a:custGeom>
              <a:avLst/>
              <a:gdLst/>
              <a:ahLst/>
              <a:cxnLst/>
              <a:rect r="r" b="b" t="t" l="l"/>
              <a:pathLst>
                <a:path h="1122958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122958"/>
                  </a:lnTo>
                  <a:lnTo>
                    <a:pt x="0" y="11229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8200" r="0" b="-8008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595360" cy="1161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spc="48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Prescr</a:t>
              </a:r>
              <a:r>
                <a:rPr lang="en-US" sz="2400" spc="48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iption Safety Checker for Indian Brand Medicines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835640" y="6769608"/>
            <a:ext cx="6446520" cy="384048"/>
            <a:chOff x="0" y="0"/>
            <a:chExt cx="8595360" cy="512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85953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THEME / DOMAIN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835640" y="7108698"/>
            <a:ext cx="6446520" cy="521208"/>
            <a:chOff x="0" y="0"/>
            <a:chExt cx="8595360" cy="6949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595360" cy="694944"/>
            </a:xfrm>
            <a:custGeom>
              <a:avLst/>
              <a:gdLst/>
              <a:ahLst/>
              <a:cxnLst/>
              <a:rect r="r" b="b" t="t" l="l"/>
              <a:pathLst>
                <a:path h="69494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859536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 &amp; MedTech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835640" y="7705725"/>
            <a:ext cx="6446520" cy="384048"/>
            <a:chOff x="0" y="0"/>
            <a:chExt cx="8595360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85953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CATEGORY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835640" y="8080248"/>
            <a:ext cx="6446520" cy="521208"/>
            <a:chOff x="0" y="0"/>
            <a:chExt cx="8595360" cy="6949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595360" cy="694944"/>
            </a:xfrm>
            <a:custGeom>
              <a:avLst/>
              <a:gdLst/>
              <a:ahLst/>
              <a:cxnLst/>
              <a:rect r="r" b="b" t="t" l="l"/>
              <a:pathLst>
                <a:path h="69494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859536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Software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22960" y="9532620"/>
            <a:ext cx="16596360" cy="411480"/>
            <a:chOff x="0" y="0"/>
            <a:chExt cx="2212848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128480" cy="548640"/>
            </a:xfrm>
            <a:custGeom>
              <a:avLst/>
              <a:gdLst/>
              <a:ahLst/>
              <a:cxnLst/>
              <a:rect r="r" b="b" t="t" l="l"/>
              <a:pathLst>
                <a:path h="5486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5896" r="0" b="-73589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221284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hypnexismuj.com   |   @hypnexis.muj   |   hypnexis2026@muj.manipal.edu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5800" y="438912"/>
            <a:ext cx="1657741" cy="754380"/>
            <a:chOff x="0" y="0"/>
            <a:chExt cx="2210321" cy="1005840"/>
          </a:xfrm>
        </p:grpSpPr>
        <p:sp>
          <p:nvSpPr>
            <p:cNvPr name="Freeform 4" id="4" descr="logo_white.png"/>
            <p:cNvSpPr/>
            <p:nvPr/>
          </p:nvSpPr>
          <p:spPr>
            <a:xfrm flipH="false" flipV="false" rot="0">
              <a:off x="0" y="0"/>
              <a:ext cx="22103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0308">
                  <a:moveTo>
                    <a:pt x="0" y="0"/>
                  </a:moveTo>
                  <a:lnTo>
                    <a:pt x="2210308" y="0"/>
                  </a:lnTo>
                  <a:lnTo>
                    <a:pt x="2210308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89120" y="548640"/>
            <a:ext cx="13167360" cy="548640"/>
            <a:chOff x="0" y="0"/>
            <a:chExt cx="17556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55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spc="449">
                  <a:solidFill>
                    <a:srgbClr val="9CC4FF"/>
                  </a:solidFill>
                  <a:latin typeface="Arial"/>
                  <a:ea typeface="Arial"/>
                  <a:cs typeface="Arial"/>
                  <a:sym typeface="Arial"/>
                </a:rPr>
                <a:t>36-HOUR HACKATHON  |  24–25 OCTOBER 2026  |  MANIPAL UNIVERSITY JAIPUR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532620"/>
            <a:ext cx="16911828" cy="13716"/>
            <a:chOff x="0" y="0"/>
            <a:chExt cx="22549104" cy="1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8288"/>
            </a:xfrm>
            <a:custGeom>
              <a:avLst/>
              <a:gdLst/>
              <a:ahLst/>
              <a:cxnLst/>
              <a:rect r="r" b="b" t="t" l="l"/>
              <a:pathLst>
                <a:path h="1828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5BFF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9642348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and Communications Engineering  •  Manipal University Jaipur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1097280"/>
            <a:chOff x="0" y="0"/>
            <a:chExt cx="22549104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2549104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IDEA / SOLUTION TITLE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755880" y="1645920"/>
            <a:ext cx="4841748" cy="480060"/>
            <a:chOff x="0" y="0"/>
            <a:chExt cx="6455664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55664" cy="640080"/>
            </a:xfrm>
            <a:custGeom>
              <a:avLst/>
              <a:gdLst/>
              <a:ahLst/>
              <a:cxnLst/>
              <a:rect r="r" b="b" t="t" l="l"/>
              <a:pathLst>
                <a:path h="640080" w="6455664">
                  <a:moveTo>
                    <a:pt x="0" y="0"/>
                  </a:moveTo>
                  <a:lnTo>
                    <a:pt x="6455664" y="0"/>
                  </a:lnTo>
                  <a:lnTo>
                    <a:pt x="64556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520" r="0" b="-14652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45566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  |  U6USN474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76275" y="2527935"/>
            <a:ext cx="8248650" cy="6671310"/>
            <a:chOff x="0" y="0"/>
            <a:chExt cx="10998200" cy="8895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982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1099820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778109" y="0"/>
                  </a:lnTo>
                  <a:cubicBezTo>
                    <a:pt x="10899648" y="0"/>
                    <a:pt x="10998200" y="98552"/>
                    <a:pt x="10998200" y="220091"/>
                  </a:cubicBezTo>
                  <a:lnTo>
                    <a:pt x="10998200" y="8674989"/>
                  </a:lnTo>
                  <a:cubicBezTo>
                    <a:pt x="10998200" y="8796528"/>
                    <a:pt x="10899648" y="8895080"/>
                    <a:pt x="10778109" y="8895080"/>
                  </a:cubicBezTo>
                  <a:lnTo>
                    <a:pt x="220091" y="8895080"/>
                  </a:lnTo>
                  <a:cubicBezTo>
                    <a:pt x="98552" y="8895080"/>
                    <a:pt x="0" y="8796528"/>
                    <a:pt x="0" y="8674989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80" y="2811780"/>
            <a:ext cx="7406640" cy="480060"/>
            <a:chOff x="0" y="0"/>
            <a:chExt cx="987552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875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97280" y="3381375"/>
            <a:ext cx="7406640" cy="553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Describe the problem in 2–3 crisp points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Who is affected and how big is the gap?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Why existing solutions fall short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58503" y="2527935"/>
            <a:ext cx="8248650" cy="4133850"/>
            <a:chOff x="0" y="0"/>
            <a:chExt cx="10998200" cy="5511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98200" cy="5511800"/>
            </a:xfrm>
            <a:custGeom>
              <a:avLst/>
              <a:gdLst/>
              <a:ahLst/>
              <a:cxnLst/>
              <a:rect r="r" b="b" t="t" l="l"/>
              <a:pathLst>
                <a:path h="5511800" w="1099820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777728" y="0"/>
                  </a:lnTo>
                  <a:cubicBezTo>
                    <a:pt x="10899521" y="0"/>
                    <a:pt x="10998200" y="98679"/>
                    <a:pt x="10998200" y="220472"/>
                  </a:cubicBezTo>
                  <a:lnTo>
                    <a:pt x="10998200" y="5291328"/>
                  </a:lnTo>
                  <a:cubicBezTo>
                    <a:pt x="10998200" y="5413121"/>
                    <a:pt x="10899521" y="5511800"/>
                    <a:pt x="10777728" y="5511800"/>
                  </a:cubicBezTo>
                  <a:lnTo>
                    <a:pt x="220472" y="5511800"/>
                  </a:lnTo>
                  <a:cubicBezTo>
                    <a:pt x="98679" y="5511800"/>
                    <a:pt x="0" y="5413121"/>
                    <a:pt x="0" y="5291328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779508" y="2811780"/>
            <a:ext cx="7406640" cy="480060"/>
            <a:chOff x="0" y="0"/>
            <a:chExt cx="987552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9875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OUR SOLUTION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779508" y="3381375"/>
            <a:ext cx="7406640" cy="306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Proposed idea / solution / prototype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How it addresses the problem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Innovation and uniqueness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58503" y="6917055"/>
            <a:ext cx="8248650" cy="2282190"/>
            <a:chOff x="0" y="0"/>
            <a:chExt cx="10998200" cy="3042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98200" cy="3042920"/>
            </a:xfrm>
            <a:custGeom>
              <a:avLst/>
              <a:gdLst/>
              <a:ahLst/>
              <a:cxnLst/>
              <a:rect r="r" b="b" t="t" l="l"/>
              <a:pathLst>
                <a:path h="3042920" w="10998200">
                  <a:moveTo>
                    <a:pt x="0" y="221361"/>
                  </a:moveTo>
                  <a:cubicBezTo>
                    <a:pt x="0" y="99060"/>
                    <a:pt x="99060" y="0"/>
                    <a:pt x="221361" y="0"/>
                  </a:cubicBezTo>
                  <a:lnTo>
                    <a:pt x="10776839" y="0"/>
                  </a:lnTo>
                  <a:cubicBezTo>
                    <a:pt x="10899140" y="0"/>
                    <a:pt x="10998200" y="99060"/>
                    <a:pt x="10998200" y="221361"/>
                  </a:cubicBezTo>
                  <a:lnTo>
                    <a:pt x="10998200" y="2821559"/>
                  </a:lnTo>
                  <a:cubicBezTo>
                    <a:pt x="10998200" y="2943733"/>
                    <a:pt x="10899140" y="3042920"/>
                    <a:pt x="10776839" y="3042920"/>
                  </a:cubicBezTo>
                  <a:lnTo>
                    <a:pt x="221361" y="3042920"/>
                  </a:lnTo>
                  <a:cubicBezTo>
                    <a:pt x="99060" y="3042920"/>
                    <a:pt x="0" y="2943860"/>
                    <a:pt x="0" y="2821559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368028" y="6926580"/>
            <a:ext cx="8229600" cy="2263140"/>
            <a:chOff x="0" y="0"/>
            <a:chExt cx="10972800" cy="3017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3017520"/>
            </a:xfrm>
            <a:custGeom>
              <a:avLst/>
              <a:gdLst/>
              <a:ahLst/>
              <a:cxnLst/>
              <a:rect r="r" b="b" t="t" l="l"/>
              <a:pathLst>
                <a:path h="3017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972800" cy="306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9CC4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Add image / mockup / diagram here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6824960" y="9669018"/>
            <a:ext cx="6812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9CC4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5800" y="438912"/>
            <a:ext cx="1657741" cy="754380"/>
            <a:chOff x="0" y="0"/>
            <a:chExt cx="2210321" cy="1005840"/>
          </a:xfrm>
        </p:grpSpPr>
        <p:sp>
          <p:nvSpPr>
            <p:cNvPr name="Freeform 4" id="4" descr="logo_white.png"/>
            <p:cNvSpPr/>
            <p:nvPr/>
          </p:nvSpPr>
          <p:spPr>
            <a:xfrm flipH="false" flipV="false" rot="0">
              <a:off x="0" y="0"/>
              <a:ext cx="22103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0308">
                  <a:moveTo>
                    <a:pt x="0" y="0"/>
                  </a:moveTo>
                  <a:lnTo>
                    <a:pt x="2210308" y="0"/>
                  </a:lnTo>
                  <a:lnTo>
                    <a:pt x="2210308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89120" y="548640"/>
            <a:ext cx="13167360" cy="548640"/>
            <a:chOff x="0" y="0"/>
            <a:chExt cx="17556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55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spc="449">
                  <a:solidFill>
                    <a:srgbClr val="9CC4FF"/>
                  </a:solidFill>
                  <a:latin typeface="Arial"/>
                  <a:ea typeface="Arial"/>
                  <a:cs typeface="Arial"/>
                  <a:sym typeface="Arial"/>
                </a:rPr>
                <a:t>36-HOUR HACKATHON  |  24–25 OCTOBER 2026  |  MANIPAL UNIVERSITY JAIPUR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532620"/>
            <a:ext cx="16911828" cy="13716"/>
            <a:chOff x="0" y="0"/>
            <a:chExt cx="22549104" cy="1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8288"/>
            </a:xfrm>
            <a:custGeom>
              <a:avLst/>
              <a:gdLst/>
              <a:ahLst/>
              <a:cxnLst/>
              <a:rect r="r" b="b" t="t" l="l"/>
              <a:pathLst>
                <a:path h="1828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5BFF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9642348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and Communications Engineering  •  Manipal University Jaipur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1097280"/>
            <a:chOff x="0" y="0"/>
            <a:chExt cx="22549104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2549104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TECHNICAL APPROACH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275" y="2527935"/>
            <a:ext cx="8248650" cy="6671310"/>
            <a:chOff x="0" y="0"/>
            <a:chExt cx="10998200" cy="8895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982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1099820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778109" y="0"/>
                  </a:lnTo>
                  <a:cubicBezTo>
                    <a:pt x="10899648" y="0"/>
                    <a:pt x="10998200" y="98552"/>
                    <a:pt x="10998200" y="220091"/>
                  </a:cubicBezTo>
                  <a:lnTo>
                    <a:pt x="10998200" y="8674989"/>
                  </a:lnTo>
                  <a:cubicBezTo>
                    <a:pt x="10998200" y="8796528"/>
                    <a:pt x="10899648" y="8895080"/>
                    <a:pt x="10778109" y="8895080"/>
                  </a:cubicBezTo>
                  <a:lnTo>
                    <a:pt x="220091" y="8895080"/>
                  </a:lnTo>
                  <a:cubicBezTo>
                    <a:pt x="98552" y="8895080"/>
                    <a:pt x="0" y="8796528"/>
                    <a:pt x="0" y="8674989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2811780"/>
            <a:ext cx="7406640" cy="480060"/>
            <a:chOff x="0" y="0"/>
            <a:chExt cx="987552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9875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 ARCHITECTURE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97280" y="3381375"/>
            <a:ext cx="7406640" cy="553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Data flow / pipeline step 1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Component or module step 2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Integration and output step 3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Add flow chart or working prototype image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58503" y="2527935"/>
            <a:ext cx="8248650" cy="3242310"/>
            <a:chOff x="0" y="0"/>
            <a:chExt cx="10998200" cy="4323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982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998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777474" y="0"/>
                  </a:lnTo>
                  <a:cubicBezTo>
                    <a:pt x="10899394" y="0"/>
                    <a:pt x="10998200" y="98806"/>
                    <a:pt x="10998200" y="220726"/>
                  </a:cubicBezTo>
                  <a:lnTo>
                    <a:pt x="10998200" y="4102354"/>
                  </a:lnTo>
                  <a:cubicBezTo>
                    <a:pt x="10998200" y="4224274"/>
                    <a:pt x="10899394" y="4323080"/>
                    <a:pt x="10777474" y="4323080"/>
                  </a:cubicBezTo>
                  <a:lnTo>
                    <a:pt x="220726" y="4323080"/>
                  </a:lnTo>
                  <a:cubicBezTo>
                    <a:pt x="98806" y="4323080"/>
                    <a:pt x="0" y="4224274"/>
                    <a:pt x="0" y="4102354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779508" y="2811780"/>
            <a:ext cx="7406640" cy="480060"/>
            <a:chOff x="0" y="0"/>
            <a:chExt cx="987552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9875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CORE TECHNOLOGIES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779508" y="3381375"/>
            <a:ext cx="740664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Languages / frameworks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Hardware / platforms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APIs, cloud and tools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58503" y="6025515"/>
            <a:ext cx="8248650" cy="3173730"/>
            <a:chOff x="0" y="0"/>
            <a:chExt cx="10998200" cy="4231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982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998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777474" y="0"/>
                  </a:lnTo>
                  <a:cubicBezTo>
                    <a:pt x="10899394" y="0"/>
                    <a:pt x="10998200" y="98806"/>
                    <a:pt x="10998200" y="220726"/>
                  </a:cubicBezTo>
                  <a:lnTo>
                    <a:pt x="10998200" y="4010914"/>
                  </a:lnTo>
                  <a:cubicBezTo>
                    <a:pt x="10998200" y="4132834"/>
                    <a:pt x="10899394" y="4231640"/>
                    <a:pt x="10777474" y="4231640"/>
                  </a:cubicBezTo>
                  <a:lnTo>
                    <a:pt x="220726" y="4231640"/>
                  </a:lnTo>
                  <a:cubicBezTo>
                    <a:pt x="98806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779508" y="6309360"/>
            <a:ext cx="7406640" cy="480060"/>
            <a:chOff x="0" y="0"/>
            <a:chExt cx="987552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9875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UNIQUE POINTS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779508" y="6878955"/>
            <a:ext cx="7406640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What makes your approach different?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What is hard to copy?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824960" y="9669018"/>
            <a:ext cx="6812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9CC4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755880" y="1645920"/>
            <a:ext cx="4841748" cy="480060"/>
            <a:chOff x="0" y="0"/>
            <a:chExt cx="6455664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55664" cy="640080"/>
            </a:xfrm>
            <a:custGeom>
              <a:avLst/>
              <a:gdLst/>
              <a:ahLst/>
              <a:cxnLst/>
              <a:rect r="r" b="b" t="t" l="l"/>
              <a:pathLst>
                <a:path h="640080" w="6455664">
                  <a:moveTo>
                    <a:pt x="0" y="0"/>
                  </a:moveTo>
                  <a:lnTo>
                    <a:pt x="6455664" y="0"/>
                  </a:lnTo>
                  <a:lnTo>
                    <a:pt x="64556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520" r="0" b="-14652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45566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  |  U6USN474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5800" y="438912"/>
            <a:ext cx="1657741" cy="754380"/>
            <a:chOff x="0" y="0"/>
            <a:chExt cx="2210321" cy="1005840"/>
          </a:xfrm>
        </p:grpSpPr>
        <p:sp>
          <p:nvSpPr>
            <p:cNvPr name="Freeform 4" id="4" descr="logo_white.png"/>
            <p:cNvSpPr/>
            <p:nvPr/>
          </p:nvSpPr>
          <p:spPr>
            <a:xfrm flipH="false" flipV="false" rot="0">
              <a:off x="0" y="0"/>
              <a:ext cx="22103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0308">
                  <a:moveTo>
                    <a:pt x="0" y="0"/>
                  </a:moveTo>
                  <a:lnTo>
                    <a:pt x="2210308" y="0"/>
                  </a:lnTo>
                  <a:lnTo>
                    <a:pt x="2210308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89120" y="548640"/>
            <a:ext cx="13167360" cy="548640"/>
            <a:chOff x="0" y="0"/>
            <a:chExt cx="17556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55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spc="449">
                  <a:solidFill>
                    <a:srgbClr val="9CC4FF"/>
                  </a:solidFill>
                  <a:latin typeface="Arial"/>
                  <a:ea typeface="Arial"/>
                  <a:cs typeface="Arial"/>
                  <a:sym typeface="Arial"/>
                </a:rPr>
                <a:t>36-HOUR HACKATHON  |  24–25 OCTOBER 2026  |  MANIPAL UNIVERSITY JAIPUR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532620"/>
            <a:ext cx="16911828" cy="13716"/>
            <a:chOff x="0" y="0"/>
            <a:chExt cx="22549104" cy="1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8288"/>
            </a:xfrm>
            <a:custGeom>
              <a:avLst/>
              <a:gdLst/>
              <a:ahLst/>
              <a:cxnLst/>
              <a:rect r="r" b="b" t="t" l="l"/>
              <a:pathLst>
                <a:path h="1828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5BFF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9642348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and Communications Engineering  •  Manipal University Jaipur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1097280"/>
            <a:chOff x="0" y="0"/>
            <a:chExt cx="22549104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2549104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EXPERIENCE &amp; DESIGN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275" y="2527935"/>
            <a:ext cx="5505450" cy="6671310"/>
            <a:chOff x="0" y="0"/>
            <a:chExt cx="7340600" cy="8895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2811780"/>
            <a:ext cx="4663440" cy="480060"/>
            <a:chOff x="0" y="0"/>
            <a:chExt cx="621792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INTERFACE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97280" y="3381375"/>
            <a:ext cx="4663440" cy="553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Key screens / interface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Main interactions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Accessibility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395847" y="2527935"/>
            <a:ext cx="5505450" cy="6671310"/>
            <a:chOff x="0" y="0"/>
            <a:chExt cx="7340600" cy="8895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816852" y="2811780"/>
            <a:ext cx="4663440" cy="480060"/>
            <a:chOff x="0" y="0"/>
            <a:chExt cx="621792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 FLOW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807327" y="3488055"/>
            <a:ext cx="773430" cy="773430"/>
            <a:chOff x="0" y="0"/>
            <a:chExt cx="1031240" cy="1031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E5B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816852" y="3497580"/>
            <a:ext cx="754380" cy="754380"/>
            <a:chOff x="0" y="0"/>
            <a:chExt cx="100584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18120" y="3429000"/>
            <a:ext cx="3840480" cy="891540"/>
            <a:chOff x="0" y="0"/>
            <a:chExt cx="5120640" cy="1188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935" r="0" b="-3393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512064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Step 1: User starts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807327" y="5271135"/>
            <a:ext cx="773430" cy="773430"/>
            <a:chOff x="0" y="0"/>
            <a:chExt cx="1031240" cy="1031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E5B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816852" y="5280660"/>
            <a:ext cx="754380" cy="754380"/>
            <a:chOff x="0" y="0"/>
            <a:chExt cx="10058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818120" y="5212080"/>
            <a:ext cx="3840480" cy="891540"/>
            <a:chOff x="0" y="0"/>
            <a:chExt cx="5120640" cy="1188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935" r="0" b="-3393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12064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Step 2: System responds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807327" y="7054215"/>
            <a:ext cx="773430" cy="773430"/>
            <a:chOff x="0" y="0"/>
            <a:chExt cx="1031240" cy="1031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1E5B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816852" y="7063740"/>
            <a:ext cx="754380" cy="754380"/>
            <a:chOff x="0" y="0"/>
            <a:chExt cx="100584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818120" y="6995160"/>
            <a:ext cx="3840480" cy="891540"/>
            <a:chOff x="0" y="0"/>
            <a:chExt cx="5120640" cy="11887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2064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935" r="0" b="-3393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512064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Step 3: Outcome delivered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101703" y="2527935"/>
            <a:ext cx="5505450" cy="6671310"/>
            <a:chOff x="0" y="0"/>
            <a:chExt cx="7340600" cy="88950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522708" y="2811780"/>
            <a:ext cx="4663440" cy="480060"/>
            <a:chOff x="0" y="0"/>
            <a:chExt cx="6217920" cy="640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DESIGN GOAL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2522708" y="3381375"/>
            <a:ext cx="466344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One clear statement of the experience you want users to have.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2522708" y="6309360"/>
            <a:ext cx="4663440" cy="2468880"/>
            <a:chOff x="0" y="0"/>
            <a:chExt cx="6217920" cy="32918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2179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7925" t="0" r="-17925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217920" cy="3339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i="true">
                  <a:solidFill>
                    <a:srgbClr val="9CC4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Add wireframe / screenshot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6824960" y="9669018"/>
            <a:ext cx="6812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9CC4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2755880" y="1645920"/>
            <a:ext cx="4841748" cy="480060"/>
            <a:chOff x="0" y="0"/>
            <a:chExt cx="6455664" cy="640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455664" cy="640080"/>
            </a:xfrm>
            <a:custGeom>
              <a:avLst/>
              <a:gdLst/>
              <a:ahLst/>
              <a:cxnLst/>
              <a:rect r="r" b="b" t="t" l="l"/>
              <a:pathLst>
                <a:path h="640080" w="6455664">
                  <a:moveTo>
                    <a:pt x="0" y="0"/>
                  </a:moveTo>
                  <a:lnTo>
                    <a:pt x="6455664" y="0"/>
                  </a:lnTo>
                  <a:lnTo>
                    <a:pt x="64556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520" r="0" b="-14652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45566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  |  U6USN474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5800" y="438912"/>
            <a:ext cx="1657741" cy="754380"/>
            <a:chOff x="0" y="0"/>
            <a:chExt cx="2210321" cy="1005840"/>
          </a:xfrm>
        </p:grpSpPr>
        <p:sp>
          <p:nvSpPr>
            <p:cNvPr name="Freeform 4" id="4" descr="logo_white.png"/>
            <p:cNvSpPr/>
            <p:nvPr/>
          </p:nvSpPr>
          <p:spPr>
            <a:xfrm flipH="false" flipV="false" rot="0">
              <a:off x="0" y="0"/>
              <a:ext cx="22103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0308">
                  <a:moveTo>
                    <a:pt x="0" y="0"/>
                  </a:moveTo>
                  <a:lnTo>
                    <a:pt x="2210308" y="0"/>
                  </a:lnTo>
                  <a:lnTo>
                    <a:pt x="2210308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89120" y="548640"/>
            <a:ext cx="13167360" cy="548640"/>
            <a:chOff x="0" y="0"/>
            <a:chExt cx="17556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55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spc="449">
                  <a:solidFill>
                    <a:srgbClr val="9CC4FF"/>
                  </a:solidFill>
                  <a:latin typeface="Arial"/>
                  <a:ea typeface="Arial"/>
                  <a:cs typeface="Arial"/>
                  <a:sym typeface="Arial"/>
                </a:rPr>
                <a:t>36-HOUR HACKATHON  |  24–25 OCTOBER 2026  |  MANIPAL UNIVERSITY JAIPUR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532620"/>
            <a:ext cx="16911828" cy="13716"/>
            <a:chOff x="0" y="0"/>
            <a:chExt cx="22549104" cy="1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8288"/>
            </a:xfrm>
            <a:custGeom>
              <a:avLst/>
              <a:gdLst/>
              <a:ahLst/>
              <a:cxnLst/>
              <a:rect r="r" b="b" t="t" l="l"/>
              <a:pathLst>
                <a:path h="1828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5BFF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9642348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and Communications Engineering  •  Manipal University Jaipur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1097280"/>
            <a:chOff x="0" y="0"/>
            <a:chExt cx="22549104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2549104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FEASIBILITY AND VIABILITY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275" y="2527935"/>
            <a:ext cx="5505450" cy="6671310"/>
            <a:chOff x="0" y="0"/>
            <a:chExt cx="7340600" cy="8895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2811780"/>
            <a:ext cx="4663440" cy="480060"/>
            <a:chOff x="0" y="0"/>
            <a:chExt cx="621792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TECHNICAL FEASIBILITY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97280" y="3518535"/>
            <a:ext cx="4663440" cy="52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Tools and stack readiness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Hardware / software needs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Modularity and scalability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395847" y="2527935"/>
            <a:ext cx="5505450" cy="6671310"/>
            <a:chOff x="0" y="0"/>
            <a:chExt cx="7340600" cy="8895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816852" y="2811780"/>
            <a:ext cx="4663440" cy="480060"/>
            <a:chOff x="0" y="0"/>
            <a:chExt cx="621792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ECONOMIC FEASIBILITY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816852" y="3518535"/>
            <a:ext cx="4663440" cy="52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Prototype cost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Scaling cost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Funding / revenue sources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115419" y="2527935"/>
            <a:ext cx="5505450" cy="6671310"/>
            <a:chOff x="0" y="0"/>
            <a:chExt cx="7340600" cy="8895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536424" y="2811780"/>
            <a:ext cx="4663440" cy="480060"/>
            <a:chOff x="0" y="0"/>
            <a:chExt cx="621792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OPERATIONAL VIABILITY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536424" y="3518535"/>
            <a:ext cx="4663440" cy="52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Deployment environment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Risks and challenges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Strategies to overcome them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824960" y="9669018"/>
            <a:ext cx="6812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9CC4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755880" y="1645920"/>
            <a:ext cx="4841748" cy="480060"/>
            <a:chOff x="0" y="0"/>
            <a:chExt cx="6455664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55664" cy="640080"/>
            </a:xfrm>
            <a:custGeom>
              <a:avLst/>
              <a:gdLst/>
              <a:ahLst/>
              <a:cxnLst/>
              <a:rect r="r" b="b" t="t" l="l"/>
              <a:pathLst>
                <a:path h="640080" w="6455664">
                  <a:moveTo>
                    <a:pt x="0" y="0"/>
                  </a:moveTo>
                  <a:lnTo>
                    <a:pt x="6455664" y="0"/>
                  </a:lnTo>
                  <a:lnTo>
                    <a:pt x="64556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520" r="0" b="-14652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45566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  |  U6USN474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5800" y="438912"/>
            <a:ext cx="1657741" cy="754380"/>
            <a:chOff x="0" y="0"/>
            <a:chExt cx="2210321" cy="1005840"/>
          </a:xfrm>
        </p:grpSpPr>
        <p:sp>
          <p:nvSpPr>
            <p:cNvPr name="Freeform 4" id="4" descr="logo_white.png"/>
            <p:cNvSpPr/>
            <p:nvPr/>
          </p:nvSpPr>
          <p:spPr>
            <a:xfrm flipH="false" flipV="false" rot="0">
              <a:off x="0" y="0"/>
              <a:ext cx="22103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0308">
                  <a:moveTo>
                    <a:pt x="0" y="0"/>
                  </a:moveTo>
                  <a:lnTo>
                    <a:pt x="2210308" y="0"/>
                  </a:lnTo>
                  <a:lnTo>
                    <a:pt x="2210308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89120" y="548640"/>
            <a:ext cx="13167360" cy="548640"/>
            <a:chOff x="0" y="0"/>
            <a:chExt cx="17556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55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spc="449">
                  <a:solidFill>
                    <a:srgbClr val="9CC4FF"/>
                  </a:solidFill>
                  <a:latin typeface="Arial"/>
                  <a:ea typeface="Arial"/>
                  <a:cs typeface="Arial"/>
                  <a:sym typeface="Arial"/>
                </a:rPr>
                <a:t>36-HOUR HACKATHON  |  24–25 OCTOBER 2026  |  MANIPAL UNIVERSITY JAIPUR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532620"/>
            <a:ext cx="16911828" cy="13716"/>
            <a:chOff x="0" y="0"/>
            <a:chExt cx="22549104" cy="1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8288"/>
            </a:xfrm>
            <a:custGeom>
              <a:avLst/>
              <a:gdLst/>
              <a:ahLst/>
              <a:cxnLst/>
              <a:rect r="r" b="b" t="t" l="l"/>
              <a:pathLst>
                <a:path h="1828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5BFF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9642348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and Communications Engineering  •  Manipal University Jaipur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1097280"/>
            <a:chOff x="0" y="0"/>
            <a:chExt cx="22549104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2549104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 AND BENEFITS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275" y="2527935"/>
            <a:ext cx="8248650" cy="3173730"/>
            <a:chOff x="0" y="0"/>
            <a:chExt cx="10998200" cy="4231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982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998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777474" y="0"/>
                  </a:lnTo>
                  <a:cubicBezTo>
                    <a:pt x="10899394" y="0"/>
                    <a:pt x="10998200" y="98806"/>
                    <a:pt x="10998200" y="220726"/>
                  </a:cubicBezTo>
                  <a:lnTo>
                    <a:pt x="10998200" y="4010914"/>
                  </a:lnTo>
                  <a:cubicBezTo>
                    <a:pt x="10998200" y="4132834"/>
                    <a:pt x="10899394" y="4231640"/>
                    <a:pt x="10777474" y="4231640"/>
                  </a:cubicBezTo>
                  <a:lnTo>
                    <a:pt x="220726" y="4231640"/>
                  </a:lnTo>
                  <a:cubicBezTo>
                    <a:pt x="98806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87755" y="2939415"/>
            <a:ext cx="842010" cy="842010"/>
            <a:chOff x="0" y="0"/>
            <a:chExt cx="1122680" cy="1122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1E5B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" y="2948940"/>
            <a:ext cx="822960" cy="822960"/>
            <a:chOff x="0" y="0"/>
            <a:chExt cx="109728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331720" y="3086100"/>
            <a:ext cx="6172200" cy="480060"/>
            <a:chOff x="0" y="0"/>
            <a:chExt cx="822960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8229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SOCIAL IMPACT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331720" y="3724275"/>
            <a:ext cx="617220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Who benefits and how. Add 2–3 crisp points.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39047" y="2527935"/>
            <a:ext cx="8248650" cy="3173730"/>
            <a:chOff x="0" y="0"/>
            <a:chExt cx="10998200" cy="4231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982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998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777474" y="0"/>
                  </a:lnTo>
                  <a:cubicBezTo>
                    <a:pt x="10899394" y="0"/>
                    <a:pt x="10998200" y="98806"/>
                    <a:pt x="10998200" y="220726"/>
                  </a:cubicBezTo>
                  <a:lnTo>
                    <a:pt x="10998200" y="4010914"/>
                  </a:lnTo>
                  <a:cubicBezTo>
                    <a:pt x="10998200" y="4132834"/>
                    <a:pt x="10899394" y="4231640"/>
                    <a:pt x="10777474" y="4231640"/>
                  </a:cubicBezTo>
                  <a:lnTo>
                    <a:pt x="220726" y="4231640"/>
                  </a:lnTo>
                  <a:cubicBezTo>
                    <a:pt x="98806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50527" y="2939415"/>
            <a:ext cx="842010" cy="842010"/>
            <a:chOff x="0" y="0"/>
            <a:chExt cx="1122680" cy="1122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1E5B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560052" y="2948940"/>
            <a:ext cx="822960" cy="822960"/>
            <a:chOff x="0" y="0"/>
            <a:chExt cx="109728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794492" y="3086100"/>
            <a:ext cx="6172200" cy="480060"/>
            <a:chOff x="0" y="0"/>
            <a:chExt cx="822960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8229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ENVIRONMENTAL IMPACT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794492" y="3724275"/>
            <a:ext cx="617220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Sustainability gains. Add 2–3 crisp points.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76275" y="5956935"/>
            <a:ext cx="8248650" cy="3173730"/>
            <a:chOff x="0" y="0"/>
            <a:chExt cx="10998200" cy="4231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982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998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777474" y="0"/>
                  </a:lnTo>
                  <a:cubicBezTo>
                    <a:pt x="10899394" y="0"/>
                    <a:pt x="10998200" y="98806"/>
                    <a:pt x="10998200" y="220726"/>
                  </a:cubicBezTo>
                  <a:lnTo>
                    <a:pt x="10998200" y="4010914"/>
                  </a:lnTo>
                  <a:cubicBezTo>
                    <a:pt x="10998200" y="4132834"/>
                    <a:pt x="10899394" y="4231640"/>
                    <a:pt x="10777474" y="4231640"/>
                  </a:cubicBezTo>
                  <a:lnTo>
                    <a:pt x="220726" y="4231640"/>
                  </a:lnTo>
                  <a:cubicBezTo>
                    <a:pt x="98806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87755" y="6368415"/>
            <a:ext cx="842010" cy="842010"/>
            <a:chOff x="0" y="0"/>
            <a:chExt cx="1122680" cy="1122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1E5B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97280" y="6377940"/>
            <a:ext cx="822960" cy="822960"/>
            <a:chOff x="0" y="0"/>
            <a:chExt cx="109728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331720" y="6515100"/>
            <a:ext cx="6172200" cy="480060"/>
            <a:chOff x="0" y="0"/>
            <a:chExt cx="822960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8229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TECHNICAL IMPACT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2331720" y="7153275"/>
            <a:ext cx="617220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Innovation contributed. Add 2–3 crisp points.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139047" y="5956935"/>
            <a:ext cx="8248650" cy="3173730"/>
            <a:chOff x="0" y="0"/>
            <a:chExt cx="10998200" cy="4231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9820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998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777474" y="0"/>
                  </a:lnTo>
                  <a:cubicBezTo>
                    <a:pt x="10899394" y="0"/>
                    <a:pt x="10998200" y="98806"/>
                    <a:pt x="10998200" y="220726"/>
                  </a:cubicBezTo>
                  <a:lnTo>
                    <a:pt x="10998200" y="4010914"/>
                  </a:lnTo>
                  <a:cubicBezTo>
                    <a:pt x="10998200" y="4132834"/>
                    <a:pt x="10899394" y="4231640"/>
                    <a:pt x="10777474" y="4231640"/>
                  </a:cubicBezTo>
                  <a:lnTo>
                    <a:pt x="220726" y="4231640"/>
                  </a:lnTo>
                  <a:cubicBezTo>
                    <a:pt x="98806" y="4231640"/>
                    <a:pt x="0" y="4132834"/>
                    <a:pt x="0" y="4010914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550527" y="6368415"/>
            <a:ext cx="842010" cy="842010"/>
            <a:chOff x="0" y="0"/>
            <a:chExt cx="1122680" cy="11226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1E5B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560052" y="6377940"/>
            <a:ext cx="822960" cy="822960"/>
            <a:chOff x="0" y="0"/>
            <a:chExt cx="109728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794492" y="6515100"/>
            <a:ext cx="6172200" cy="480060"/>
            <a:chOff x="0" y="0"/>
            <a:chExt cx="8229600" cy="640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8229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EDUCATIONAL IMPACT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0794492" y="7153275"/>
            <a:ext cx="617220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Learning / awareness value. Add 2–3 crisp points.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824960" y="9669018"/>
            <a:ext cx="6812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9CC4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2755880" y="1645920"/>
            <a:ext cx="4841748" cy="480060"/>
            <a:chOff x="0" y="0"/>
            <a:chExt cx="6455664" cy="640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455664" cy="640080"/>
            </a:xfrm>
            <a:custGeom>
              <a:avLst/>
              <a:gdLst/>
              <a:ahLst/>
              <a:cxnLst/>
              <a:rect r="r" b="b" t="t" l="l"/>
              <a:pathLst>
                <a:path h="640080" w="6455664">
                  <a:moveTo>
                    <a:pt x="0" y="0"/>
                  </a:moveTo>
                  <a:lnTo>
                    <a:pt x="6455664" y="0"/>
                  </a:lnTo>
                  <a:lnTo>
                    <a:pt x="64556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520" r="0" b="-14652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645566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  |  U6USN474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5800" y="438912"/>
            <a:ext cx="1657741" cy="754380"/>
            <a:chOff x="0" y="0"/>
            <a:chExt cx="2210321" cy="1005840"/>
          </a:xfrm>
        </p:grpSpPr>
        <p:sp>
          <p:nvSpPr>
            <p:cNvPr name="Freeform 4" id="4" descr="logo_white.png"/>
            <p:cNvSpPr/>
            <p:nvPr/>
          </p:nvSpPr>
          <p:spPr>
            <a:xfrm flipH="false" flipV="false" rot="0">
              <a:off x="0" y="0"/>
              <a:ext cx="22103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0308">
                  <a:moveTo>
                    <a:pt x="0" y="0"/>
                  </a:moveTo>
                  <a:lnTo>
                    <a:pt x="2210308" y="0"/>
                  </a:lnTo>
                  <a:lnTo>
                    <a:pt x="2210308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89120" y="548640"/>
            <a:ext cx="13167360" cy="548640"/>
            <a:chOff x="0" y="0"/>
            <a:chExt cx="17556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55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spc="449">
                  <a:solidFill>
                    <a:srgbClr val="9CC4FF"/>
                  </a:solidFill>
                  <a:latin typeface="Arial"/>
                  <a:ea typeface="Arial"/>
                  <a:cs typeface="Arial"/>
                  <a:sym typeface="Arial"/>
                </a:rPr>
                <a:t>36-HOUR HACKATHON  |  24–25 OCTOBER 2026  |  MANIPAL UNIVERSITY JAIPUR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532620"/>
            <a:ext cx="16911828" cy="13716"/>
            <a:chOff x="0" y="0"/>
            <a:chExt cx="22549104" cy="1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8288"/>
            </a:xfrm>
            <a:custGeom>
              <a:avLst/>
              <a:gdLst/>
              <a:ahLst/>
              <a:cxnLst/>
              <a:rect r="r" b="b" t="t" l="l"/>
              <a:pathLst>
                <a:path h="1828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5BFF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9642348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and Communications Engineering  •  Manipal University Jaipur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1097280"/>
            <a:chOff x="0" y="0"/>
            <a:chExt cx="22549104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2549104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BUSINESS MODEL &amp; SUSTAINABILITY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275" y="2527935"/>
            <a:ext cx="5505450" cy="6671310"/>
            <a:chOff x="0" y="0"/>
            <a:chExt cx="7340600" cy="8895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2811780"/>
            <a:ext cx="4663440" cy="480060"/>
            <a:chOff x="0" y="0"/>
            <a:chExt cx="621792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 USERS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97280" y="3518535"/>
            <a:ext cx="4663440" cy="52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Primary users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Institutions / partners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Early adopters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395847" y="2527935"/>
            <a:ext cx="5505450" cy="6671310"/>
            <a:chOff x="0" y="0"/>
            <a:chExt cx="7340600" cy="8895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816852" y="2811780"/>
            <a:ext cx="4663440" cy="480060"/>
            <a:chOff x="0" y="0"/>
            <a:chExt cx="621792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REVENUE &amp; COST MODEL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816852" y="3518535"/>
            <a:ext cx="4663440" cy="52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Pilot / prototype phase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Pricing or SaaS model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Long-term growth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101703" y="2527935"/>
            <a:ext cx="5505450" cy="6671310"/>
            <a:chOff x="0" y="0"/>
            <a:chExt cx="7340600" cy="8895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40600" cy="8895080"/>
            </a:xfrm>
            <a:custGeom>
              <a:avLst/>
              <a:gdLst/>
              <a:ahLst/>
              <a:cxnLst/>
              <a:rect r="r" b="b" t="t" l="l"/>
              <a:pathLst>
                <a:path h="8895080" w="73406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7120382" y="0"/>
                  </a:lnTo>
                  <a:cubicBezTo>
                    <a:pt x="7242048" y="0"/>
                    <a:pt x="7340600" y="98552"/>
                    <a:pt x="7340600" y="220218"/>
                  </a:cubicBezTo>
                  <a:lnTo>
                    <a:pt x="7340600" y="8674862"/>
                  </a:lnTo>
                  <a:cubicBezTo>
                    <a:pt x="7340600" y="8796528"/>
                    <a:pt x="7242048" y="8895080"/>
                    <a:pt x="7120382" y="8895080"/>
                  </a:cubicBezTo>
                  <a:lnTo>
                    <a:pt x="220218" y="8895080"/>
                  </a:lnTo>
                  <a:cubicBezTo>
                    <a:pt x="98552" y="8895080"/>
                    <a:pt x="0" y="8796528"/>
                    <a:pt x="0" y="8674862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522708" y="2811780"/>
            <a:ext cx="4663440" cy="480060"/>
            <a:chOff x="0" y="0"/>
            <a:chExt cx="621792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SUSTAINABILITY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522708" y="3518535"/>
            <a:ext cx="4663440" cy="525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Partnerships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Future expansion</a:t>
            </a:r>
          </a:p>
          <a:p>
            <a:pPr algn="l" marL="380048" indent="-190024" lvl="1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Open-source / community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824960" y="9669018"/>
            <a:ext cx="6812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9CC4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755880" y="1645920"/>
            <a:ext cx="4841748" cy="480060"/>
            <a:chOff x="0" y="0"/>
            <a:chExt cx="6455664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55664" cy="640080"/>
            </a:xfrm>
            <a:custGeom>
              <a:avLst/>
              <a:gdLst/>
              <a:ahLst/>
              <a:cxnLst/>
              <a:rect r="r" b="b" t="t" l="l"/>
              <a:pathLst>
                <a:path h="640080" w="6455664">
                  <a:moveTo>
                    <a:pt x="0" y="0"/>
                  </a:moveTo>
                  <a:lnTo>
                    <a:pt x="6455664" y="0"/>
                  </a:lnTo>
                  <a:lnTo>
                    <a:pt x="64556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520" r="0" b="-14652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45566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  |  U6USN474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5800" y="438912"/>
            <a:ext cx="1657741" cy="754380"/>
            <a:chOff x="0" y="0"/>
            <a:chExt cx="2210321" cy="1005840"/>
          </a:xfrm>
        </p:grpSpPr>
        <p:sp>
          <p:nvSpPr>
            <p:cNvPr name="Freeform 4" id="4" descr="logo_white.png"/>
            <p:cNvSpPr/>
            <p:nvPr/>
          </p:nvSpPr>
          <p:spPr>
            <a:xfrm flipH="false" flipV="false" rot="0">
              <a:off x="0" y="0"/>
              <a:ext cx="2210308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0308">
                  <a:moveTo>
                    <a:pt x="0" y="0"/>
                  </a:moveTo>
                  <a:lnTo>
                    <a:pt x="2210308" y="0"/>
                  </a:lnTo>
                  <a:lnTo>
                    <a:pt x="2210308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89120" y="548640"/>
            <a:ext cx="13167360" cy="548640"/>
            <a:chOff x="0" y="0"/>
            <a:chExt cx="17556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6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556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spc="449">
                  <a:solidFill>
                    <a:srgbClr val="9CC4FF"/>
                  </a:solidFill>
                  <a:latin typeface="Arial"/>
                  <a:ea typeface="Arial"/>
                  <a:cs typeface="Arial"/>
                  <a:sym typeface="Arial"/>
                </a:rPr>
                <a:t>36-HOUR HACKATHON  |  24–25 OCTOBER 2026  |  MANIPAL UNIVERSITY JAIPUR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9532620"/>
            <a:ext cx="16911828" cy="13716"/>
            <a:chOff x="0" y="0"/>
            <a:chExt cx="22549104" cy="1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8288"/>
            </a:xfrm>
            <a:custGeom>
              <a:avLst/>
              <a:gdLst/>
              <a:ahLst/>
              <a:cxnLst/>
              <a:rect r="r" b="b" t="t" l="l"/>
              <a:pathLst>
                <a:path h="18288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5BFF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5800" y="9642348"/>
            <a:ext cx="12344400" cy="411480"/>
            <a:chOff x="0" y="0"/>
            <a:chExt cx="16459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0" cy="548640"/>
            </a:xfrm>
            <a:custGeom>
              <a:avLst/>
              <a:gdLst/>
              <a:ahLst/>
              <a:cxnLst/>
              <a:rect r="r" b="b" t="t" l="l"/>
              <a:pathLst>
                <a:path h="548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459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and Communications Engineering  •  Manipal University Jaipur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1097280"/>
            <a:chOff x="0" y="0"/>
            <a:chExt cx="22549104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313" r="0" b="-2503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2549104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 spc="3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RESEARCH AND REFERENCES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275" y="2527935"/>
            <a:ext cx="16930878" cy="6671310"/>
            <a:chOff x="0" y="0"/>
            <a:chExt cx="22574504" cy="8895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574503" cy="8895080"/>
            </a:xfrm>
            <a:custGeom>
              <a:avLst/>
              <a:gdLst/>
              <a:ahLst/>
              <a:cxnLst/>
              <a:rect r="r" b="b" t="t" l="l"/>
              <a:pathLst>
                <a:path h="8895080" w="22574503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22354412" y="0"/>
                  </a:lnTo>
                  <a:cubicBezTo>
                    <a:pt x="22475952" y="0"/>
                    <a:pt x="22574503" y="98552"/>
                    <a:pt x="22574503" y="220091"/>
                  </a:cubicBezTo>
                  <a:lnTo>
                    <a:pt x="22574503" y="8674989"/>
                  </a:lnTo>
                  <a:cubicBezTo>
                    <a:pt x="22574503" y="8796528"/>
                    <a:pt x="22475952" y="8895080"/>
                    <a:pt x="22354412" y="8895080"/>
                  </a:cubicBezTo>
                  <a:lnTo>
                    <a:pt x="220091" y="8895080"/>
                  </a:lnTo>
                  <a:cubicBezTo>
                    <a:pt x="98552" y="8895080"/>
                    <a:pt x="0" y="8796528"/>
                    <a:pt x="0" y="8674989"/>
                  </a:cubicBezTo>
                  <a:close/>
                </a:path>
              </a:pathLst>
            </a:custGeom>
            <a:solidFill>
              <a:srgbClr val="0B1A4A">
                <a:alpha val="56078"/>
              </a:srgbClr>
            </a:solidFill>
            <a:ln w="19050" cap="sq">
              <a:solidFill>
                <a:srgbClr val="1E5B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2811780"/>
            <a:ext cx="15773400" cy="480060"/>
            <a:chOff x="0" y="0"/>
            <a:chExt cx="2103120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031200" cy="640080"/>
            </a:xfrm>
            <a:custGeom>
              <a:avLst/>
              <a:gdLst/>
              <a:ahLst/>
              <a:cxnLst/>
              <a:rect r="r" b="b" t="t" l="l"/>
              <a:pathLst>
                <a:path h="6400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10312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9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TECH &amp; RESEARCH SOURCES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97280" y="3528060"/>
            <a:ext cx="16047720" cy="525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Technology / standard used and its source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Research paper, report or case study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solutions studied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Documentation and links (APIs, libraries, datasets)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824960" y="9669018"/>
            <a:ext cx="6812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9CC4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755880" y="1645920"/>
            <a:ext cx="4841748" cy="480060"/>
            <a:chOff x="0" y="0"/>
            <a:chExt cx="6455664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55664" cy="640080"/>
            </a:xfrm>
            <a:custGeom>
              <a:avLst/>
              <a:gdLst/>
              <a:ahLst/>
              <a:cxnLst/>
              <a:rect r="r" b="b" t="t" l="l"/>
              <a:pathLst>
                <a:path h="640080" w="6455664">
                  <a:moveTo>
                    <a:pt x="0" y="0"/>
                  </a:moveTo>
                  <a:lnTo>
                    <a:pt x="6455664" y="0"/>
                  </a:lnTo>
                  <a:lnTo>
                    <a:pt x="645566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520" r="0" b="-14652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45566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  |  U6USN474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2743200"/>
            <a:ext cx="7132320" cy="3245663"/>
            <a:chOff x="0" y="0"/>
            <a:chExt cx="9509760" cy="4327550"/>
          </a:xfrm>
        </p:grpSpPr>
        <p:sp>
          <p:nvSpPr>
            <p:cNvPr name="Freeform 4" id="4" descr="HYPNEXIS 26 logo"/>
            <p:cNvSpPr/>
            <p:nvPr/>
          </p:nvSpPr>
          <p:spPr>
            <a:xfrm flipH="false" flipV="false" rot="0">
              <a:off x="0" y="0"/>
              <a:ext cx="9509760" cy="4327525"/>
            </a:xfrm>
            <a:custGeom>
              <a:avLst/>
              <a:gdLst/>
              <a:ahLst/>
              <a:cxnLst/>
              <a:rect r="r" b="b" t="t" l="l"/>
              <a:pathLst>
                <a:path h="4327525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327525"/>
                  </a:lnTo>
                  <a:lnTo>
                    <a:pt x="0" y="4327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6446520"/>
            <a:ext cx="10972800" cy="1234440"/>
            <a:chOff x="0" y="0"/>
            <a:chExt cx="1463040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63040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b="true" sz="6600" spc="6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7680960"/>
            <a:ext cx="10972800" cy="548640"/>
            <a:chOff x="0" y="0"/>
            <a:chExt cx="146304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Plot Armor</a:t>
              </a:r>
              <a:r>
                <a:rPr lang="en-US" sz="2400">
                  <a:solidFill>
                    <a:srgbClr val="9CC4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|  U6USN474  |  7744039295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052560"/>
            <a:ext cx="10972800" cy="480060"/>
            <a:chOff x="0" y="0"/>
            <a:chExt cx="1463040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6304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749">
                  <a:solidFill>
                    <a:srgbClr val="4DA3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CREATE / AN / IMPACT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DAHY8FSK67A</dc:identifier>
  <dcterms:modified xsi:type="dcterms:W3CDTF">2011-08-01T06:04:30Z</dcterms:modified>
  <cp:revision>1</cp:revision>
  <dc:title>U6USN474_Plot_Armor</dc:title>
</cp:coreProperties>
</file>